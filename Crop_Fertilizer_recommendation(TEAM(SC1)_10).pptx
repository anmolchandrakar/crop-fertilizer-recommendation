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hau Philomene"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8.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804756" y="5884511"/>
            <a:ext cx="3597733" cy="5207245"/>
          </a:xfrm>
          <a:custGeom>
            <a:avLst/>
            <a:gdLst/>
            <a:ahLst/>
            <a:cxnLst/>
            <a:rect l="l" t="t" r="r" b="b"/>
            <a:pathLst>
              <a:path w="3597733" h="5207245">
                <a:moveTo>
                  <a:pt x="0" y="0"/>
                </a:moveTo>
                <a:lnTo>
                  <a:pt x="3597733" y="0"/>
                </a:lnTo>
                <a:lnTo>
                  <a:pt x="3597733" y="5207245"/>
                </a:lnTo>
                <a:lnTo>
                  <a:pt x="0" y="52072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3884526" y="-804936"/>
            <a:ext cx="3598538" cy="5208410"/>
          </a:xfrm>
          <a:custGeom>
            <a:avLst/>
            <a:gdLst/>
            <a:ahLst/>
            <a:cxnLst/>
            <a:rect l="l" t="t" r="r" b="b"/>
            <a:pathLst>
              <a:path w="3598538" h="5208410">
                <a:moveTo>
                  <a:pt x="3598538" y="5208410"/>
                </a:moveTo>
                <a:lnTo>
                  <a:pt x="0" y="5208410"/>
                </a:lnTo>
                <a:lnTo>
                  <a:pt x="0" y="0"/>
                </a:lnTo>
                <a:lnTo>
                  <a:pt x="3598538" y="0"/>
                </a:lnTo>
                <a:lnTo>
                  <a:pt x="3598538" y="520841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1028700"/>
            <a:ext cx="2618309" cy="1204422"/>
          </a:xfrm>
          <a:custGeom>
            <a:avLst/>
            <a:gdLst/>
            <a:ahLst/>
            <a:cxnLst/>
            <a:rect l="l" t="t" r="r" b="b"/>
            <a:pathLst>
              <a:path w="2618309" h="1204422">
                <a:moveTo>
                  <a:pt x="0" y="0"/>
                </a:moveTo>
                <a:lnTo>
                  <a:pt x="2618309" y="0"/>
                </a:lnTo>
                <a:lnTo>
                  <a:pt x="2618309" y="1204422"/>
                </a:lnTo>
                <a:lnTo>
                  <a:pt x="0" y="12044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4640991" y="8053878"/>
            <a:ext cx="2618309" cy="1204422"/>
          </a:xfrm>
          <a:custGeom>
            <a:avLst/>
            <a:gdLst/>
            <a:ahLst/>
            <a:cxnLst/>
            <a:rect l="l" t="t" r="r" b="b"/>
            <a:pathLst>
              <a:path w="2618309" h="1204422">
                <a:moveTo>
                  <a:pt x="2618309" y="0"/>
                </a:moveTo>
                <a:lnTo>
                  <a:pt x="0" y="0"/>
                </a:lnTo>
                <a:lnTo>
                  <a:pt x="0" y="1204422"/>
                </a:lnTo>
                <a:lnTo>
                  <a:pt x="2618309" y="1204422"/>
                </a:lnTo>
                <a:lnTo>
                  <a:pt x="2618309"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178863" y="7030660"/>
            <a:ext cx="3435203" cy="1020078"/>
          </a:xfrm>
          <a:custGeom>
            <a:avLst/>
            <a:gdLst/>
            <a:ahLst/>
            <a:cxnLst/>
            <a:rect l="l" t="t" r="r" b="b"/>
            <a:pathLst>
              <a:path w="3435203" h="1020078">
                <a:moveTo>
                  <a:pt x="0" y="0"/>
                </a:moveTo>
                <a:lnTo>
                  <a:pt x="3435203" y="0"/>
                </a:lnTo>
                <a:lnTo>
                  <a:pt x="3435203" y="1020077"/>
                </a:lnTo>
                <a:lnTo>
                  <a:pt x="0" y="10200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031660" y="2236263"/>
            <a:ext cx="3435203" cy="1020078"/>
          </a:xfrm>
          <a:custGeom>
            <a:avLst/>
            <a:gdLst/>
            <a:ahLst/>
            <a:cxnLst/>
            <a:rect l="l" t="t" r="r" b="b"/>
            <a:pathLst>
              <a:path w="3435203" h="1020078">
                <a:moveTo>
                  <a:pt x="0" y="0"/>
                </a:moveTo>
                <a:lnTo>
                  <a:pt x="3435203" y="0"/>
                </a:lnTo>
                <a:lnTo>
                  <a:pt x="3435203" y="1020077"/>
                </a:lnTo>
                <a:lnTo>
                  <a:pt x="0" y="102007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538739" y="2527226"/>
            <a:ext cx="15111690" cy="5932978"/>
          </a:xfrm>
          <a:prstGeom prst="rect">
            <a:avLst/>
          </a:prstGeom>
        </p:spPr>
        <p:txBody>
          <a:bodyPr lIns="0" tIns="0" rIns="0" bIns="0" rtlCol="0" anchor="t">
            <a:spAutoFit/>
          </a:bodyPr>
          <a:lstStyle/>
          <a:p>
            <a:pPr algn="ctr">
              <a:lnSpc>
                <a:spcPts val="15810"/>
              </a:lnSpc>
            </a:pPr>
            <a:r>
              <a:rPr lang="en-US" sz="11293">
                <a:solidFill>
                  <a:srgbClr val="000000"/>
                </a:solidFill>
                <a:latin typeface="Chau Philomene"/>
                <a:ea typeface="Chau Philomene"/>
                <a:cs typeface="Chau Philomene"/>
                <a:sym typeface="Chau Philomene"/>
              </a:rPr>
              <a:t>CROP AND FERTILIZER RECOMMENDATION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335652" y="8450785"/>
            <a:ext cx="1500563" cy="2171867"/>
          </a:xfrm>
          <a:custGeom>
            <a:avLst/>
            <a:gdLst/>
            <a:ahLst/>
            <a:cxnLst/>
            <a:rect l="l" t="t" r="r" b="b"/>
            <a:pathLst>
              <a:path w="1500563" h="2171867">
                <a:moveTo>
                  <a:pt x="0" y="0"/>
                </a:moveTo>
                <a:lnTo>
                  <a:pt x="1500563" y="0"/>
                </a:lnTo>
                <a:lnTo>
                  <a:pt x="1500563" y="2171867"/>
                </a:lnTo>
                <a:lnTo>
                  <a:pt x="0" y="217186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5874313" y="-441212"/>
            <a:ext cx="1972475" cy="2854898"/>
          </a:xfrm>
          <a:custGeom>
            <a:avLst/>
            <a:gdLst/>
            <a:ahLst/>
            <a:cxnLst/>
            <a:rect l="l" t="t" r="r" b="b"/>
            <a:pathLst>
              <a:path w="1972475" h="2854898">
                <a:moveTo>
                  <a:pt x="1972475" y="2854899"/>
                </a:moveTo>
                <a:lnTo>
                  <a:pt x="0" y="2854899"/>
                </a:lnTo>
                <a:lnTo>
                  <a:pt x="0" y="0"/>
                </a:lnTo>
                <a:lnTo>
                  <a:pt x="1972475" y="0"/>
                </a:lnTo>
                <a:lnTo>
                  <a:pt x="1972475" y="2854899"/>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582389" y="556812"/>
            <a:ext cx="2051685" cy="943775"/>
          </a:xfrm>
          <a:custGeom>
            <a:avLst/>
            <a:gdLst/>
            <a:ahLst/>
            <a:cxnLst/>
            <a:rect l="l" t="t" r="r" b="b"/>
            <a:pathLst>
              <a:path w="2051685" h="943775">
                <a:moveTo>
                  <a:pt x="0" y="0"/>
                </a:moveTo>
                <a:lnTo>
                  <a:pt x="2051685" y="0"/>
                </a:lnTo>
                <a:lnTo>
                  <a:pt x="2051685" y="943776"/>
                </a:lnTo>
                <a:lnTo>
                  <a:pt x="0" y="94377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5433102" y="8314574"/>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161636" y="7344290"/>
            <a:ext cx="3104345" cy="921830"/>
          </a:xfrm>
          <a:custGeom>
            <a:avLst/>
            <a:gdLst/>
            <a:ahLst/>
            <a:cxnLst/>
            <a:rect l="l" t="t" r="r" b="b"/>
            <a:pathLst>
              <a:path w="3104345" h="921830">
                <a:moveTo>
                  <a:pt x="0" y="0"/>
                </a:moveTo>
                <a:lnTo>
                  <a:pt x="3104346" y="0"/>
                </a:lnTo>
                <a:lnTo>
                  <a:pt x="3104346" y="921831"/>
                </a:lnTo>
                <a:lnTo>
                  <a:pt x="0" y="9218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343631" y="2022019"/>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6216204" y="621810"/>
            <a:ext cx="5634768" cy="878777"/>
          </a:xfrm>
          <a:prstGeom prst="rect">
            <a:avLst/>
          </a:prstGeom>
        </p:spPr>
        <p:txBody>
          <a:bodyPr lIns="0" tIns="0" rIns="0" bIns="0" rtlCol="0" anchor="t">
            <a:spAutoFit/>
          </a:bodyPr>
          <a:lstStyle/>
          <a:p>
            <a:pPr algn="ctr">
              <a:lnSpc>
                <a:spcPts val="7350"/>
              </a:lnSpc>
            </a:pPr>
            <a:r>
              <a:rPr lang="en-US" sz="5250">
                <a:solidFill>
                  <a:srgbClr val="000000"/>
                </a:solidFill>
                <a:latin typeface="Chau Philomene"/>
                <a:ea typeface="Chau Philomene"/>
                <a:cs typeface="Chau Philomene"/>
                <a:sym typeface="Chau Philomene"/>
              </a:rPr>
              <a:t>INTRODUCTION</a:t>
            </a:r>
          </a:p>
        </p:txBody>
      </p:sp>
      <p:sp>
        <p:nvSpPr>
          <p:cNvPr id="10" name="TextBox 10"/>
          <p:cNvSpPr txBox="1"/>
          <p:nvPr/>
        </p:nvSpPr>
        <p:spPr>
          <a:xfrm>
            <a:off x="2854827" y="1896275"/>
            <a:ext cx="11832551" cy="8747003"/>
          </a:xfrm>
          <a:prstGeom prst="rect">
            <a:avLst/>
          </a:prstGeom>
        </p:spPr>
        <p:txBody>
          <a:bodyPr lIns="0" tIns="0" rIns="0" bIns="0" rtlCol="0" anchor="t">
            <a:spAutoFit/>
          </a:bodyPr>
          <a:lstStyle/>
          <a:p>
            <a:pPr marL="890500" lvl="1" indent="-445250" algn="just">
              <a:lnSpc>
                <a:spcPts val="5774"/>
              </a:lnSpc>
              <a:buFont typeface="Arial"/>
              <a:buChar char="•"/>
            </a:pPr>
            <a:r>
              <a:rPr lang="en-US" sz="4124">
                <a:solidFill>
                  <a:srgbClr val="000000"/>
                </a:solidFill>
                <a:latin typeface="Chau Philomene"/>
                <a:ea typeface="Chau Philomene"/>
                <a:cs typeface="Chau Philomene"/>
                <a:sym typeface="Chau Philomene"/>
              </a:rPr>
              <a:t>Agriculture is the backbone of many economies, but farmers often face challenges in choosing the right crop and using fertilizers effectively due to limited scientific knowledge about soil nutrients and environmental conditions.</a:t>
            </a:r>
          </a:p>
          <a:p>
            <a:pPr marL="890500" lvl="1" indent="-445250" algn="just">
              <a:lnSpc>
                <a:spcPts val="5774"/>
              </a:lnSpc>
              <a:buFont typeface="Arial"/>
              <a:buChar char="•"/>
            </a:pPr>
            <a:r>
              <a:rPr lang="en-US" sz="4124">
                <a:solidFill>
                  <a:srgbClr val="000000"/>
                </a:solidFill>
                <a:latin typeface="Chau Philomene"/>
                <a:ea typeface="Chau Philomene"/>
                <a:cs typeface="Chau Philomene"/>
                <a:sym typeface="Chau Philomene"/>
              </a:rPr>
              <a:t>This lack of data-driven decision-making leads to low crop yield, higher input costs, and soil degradation.</a:t>
            </a:r>
          </a:p>
          <a:p>
            <a:pPr marL="890500" lvl="1" indent="-445250" algn="just">
              <a:lnSpc>
                <a:spcPts val="5774"/>
              </a:lnSpc>
              <a:buFont typeface="Arial"/>
              <a:buChar char="•"/>
            </a:pPr>
            <a:r>
              <a:rPr lang="en-US" sz="4124">
                <a:solidFill>
                  <a:srgbClr val="000000"/>
                </a:solidFill>
                <a:latin typeface="Chau Philomene"/>
                <a:ea typeface="Chau Philomene"/>
                <a:cs typeface="Chau Philomene"/>
                <a:sym typeface="Chau Philomene"/>
              </a:rPr>
              <a:t>There is a growing need for smart farming solutions that can guide farmers using real data and technology.</a:t>
            </a:r>
          </a:p>
          <a:p>
            <a:pPr algn="just">
              <a:lnSpc>
                <a:spcPts val="6488"/>
              </a:lnSpc>
              <a:spcBef>
                <a:spcPct val="0"/>
              </a:spcBef>
            </a:pPr>
            <a:endParaRPr lang="en-US" sz="4124">
              <a:solidFill>
                <a:srgbClr val="000000"/>
              </a:solidFill>
              <a:latin typeface="Chau Philomene"/>
              <a:ea typeface="Chau Philomene"/>
              <a:cs typeface="Chau Philomene"/>
              <a:sym typeface="Chau Philomene"/>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660488" y="6673745"/>
            <a:ext cx="2952768" cy="4273743"/>
          </a:xfrm>
          <a:custGeom>
            <a:avLst/>
            <a:gdLst/>
            <a:ahLst/>
            <a:cxnLst/>
            <a:rect l="l" t="t" r="r" b="b"/>
            <a:pathLst>
              <a:path w="2952768" h="4273743">
                <a:moveTo>
                  <a:pt x="0" y="0"/>
                </a:moveTo>
                <a:lnTo>
                  <a:pt x="2952767" y="0"/>
                </a:lnTo>
                <a:lnTo>
                  <a:pt x="2952767" y="4273743"/>
                </a:lnTo>
                <a:lnTo>
                  <a:pt x="0" y="427374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4042019" y="-776147"/>
            <a:ext cx="3469834" cy="5022128"/>
          </a:xfrm>
          <a:custGeom>
            <a:avLst/>
            <a:gdLst/>
            <a:ahLst/>
            <a:cxnLst/>
            <a:rect l="l" t="t" r="r" b="b"/>
            <a:pathLst>
              <a:path w="3469834" h="5022128">
                <a:moveTo>
                  <a:pt x="3469834" y="5022128"/>
                </a:moveTo>
                <a:lnTo>
                  <a:pt x="0" y="5022128"/>
                </a:lnTo>
                <a:lnTo>
                  <a:pt x="0" y="0"/>
                </a:lnTo>
                <a:lnTo>
                  <a:pt x="3469834" y="0"/>
                </a:lnTo>
                <a:lnTo>
                  <a:pt x="3469834" y="5022128"/>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580582" y="1028700"/>
            <a:ext cx="2051685" cy="943775"/>
          </a:xfrm>
          <a:custGeom>
            <a:avLst/>
            <a:gdLst/>
            <a:ahLst/>
            <a:cxnLst/>
            <a:rect l="l" t="t" r="r" b="b"/>
            <a:pathLst>
              <a:path w="2051685" h="943775">
                <a:moveTo>
                  <a:pt x="0" y="0"/>
                </a:moveTo>
                <a:lnTo>
                  <a:pt x="2051685" y="0"/>
                </a:lnTo>
                <a:lnTo>
                  <a:pt x="2051685" y="943775"/>
                </a:lnTo>
                <a:lnTo>
                  <a:pt x="0" y="9437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5207722" y="8314574"/>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161636" y="7344290"/>
            <a:ext cx="3104345" cy="921830"/>
          </a:xfrm>
          <a:custGeom>
            <a:avLst/>
            <a:gdLst/>
            <a:ahLst/>
            <a:cxnLst/>
            <a:rect l="l" t="t" r="r" b="b"/>
            <a:pathLst>
              <a:path w="3104345" h="921830">
                <a:moveTo>
                  <a:pt x="0" y="0"/>
                </a:moveTo>
                <a:lnTo>
                  <a:pt x="3104346" y="0"/>
                </a:lnTo>
                <a:lnTo>
                  <a:pt x="3104346" y="921831"/>
                </a:lnTo>
                <a:lnTo>
                  <a:pt x="0" y="9218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343631" y="2022019"/>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2913904" y="2900129"/>
            <a:ext cx="12460191" cy="5718135"/>
          </a:xfrm>
          <a:prstGeom prst="rect">
            <a:avLst/>
          </a:prstGeom>
        </p:spPr>
        <p:txBody>
          <a:bodyPr lIns="0" tIns="0" rIns="0" bIns="0" rtlCol="0" anchor="t">
            <a:spAutoFit/>
          </a:bodyPr>
          <a:lstStyle/>
          <a:p>
            <a:pPr algn="just">
              <a:lnSpc>
                <a:spcPts val="5077"/>
              </a:lnSpc>
            </a:pPr>
            <a:endParaRPr/>
          </a:p>
          <a:p>
            <a:pPr marL="782979" lvl="1" indent="-391489" algn="just">
              <a:lnSpc>
                <a:spcPts val="5077"/>
              </a:lnSpc>
              <a:buFont typeface="Arial"/>
              <a:buChar char="•"/>
            </a:pPr>
            <a:r>
              <a:rPr lang="en-US" sz="3626">
                <a:solidFill>
                  <a:srgbClr val="000000"/>
                </a:solidFill>
                <a:latin typeface="Chau Philomene"/>
                <a:ea typeface="Chau Philomene"/>
                <a:cs typeface="Chau Philomene"/>
                <a:sym typeface="Chau Philomene"/>
              </a:rPr>
              <a:t>Recommend the most suitable crop based on soil nutrients (N, P, K) and environmental factors (temperature, humidity, pH, rainfall).</a:t>
            </a:r>
          </a:p>
          <a:p>
            <a:pPr marL="782979" lvl="1" indent="-391489" algn="just">
              <a:lnSpc>
                <a:spcPts val="5077"/>
              </a:lnSpc>
              <a:buFont typeface="Arial"/>
              <a:buChar char="•"/>
            </a:pPr>
            <a:r>
              <a:rPr lang="en-US" sz="3626">
                <a:solidFill>
                  <a:srgbClr val="000000"/>
                </a:solidFill>
                <a:latin typeface="Chau Philomene"/>
                <a:ea typeface="Chau Philomene"/>
                <a:cs typeface="Chau Philomene"/>
                <a:sym typeface="Chau Philomene"/>
              </a:rPr>
              <a:t>Provide fertilizer suggestions to balance soil nutrient levels for better yield.</a:t>
            </a:r>
          </a:p>
          <a:p>
            <a:pPr marL="782979" lvl="1" indent="-391489" algn="just">
              <a:lnSpc>
                <a:spcPts val="5077"/>
              </a:lnSpc>
              <a:buFont typeface="Arial"/>
              <a:buChar char="•"/>
            </a:pPr>
            <a:r>
              <a:rPr lang="en-US" sz="3626">
                <a:solidFill>
                  <a:srgbClr val="000000"/>
                </a:solidFill>
                <a:latin typeface="Chau Philomene"/>
                <a:ea typeface="Chau Philomene"/>
                <a:cs typeface="Chau Philomene"/>
                <a:sym typeface="Chau Philomene"/>
              </a:rPr>
              <a:t>Suggest water requirements to ensure optimal growth and productivity.</a:t>
            </a:r>
          </a:p>
          <a:p>
            <a:pPr algn="just">
              <a:lnSpc>
                <a:spcPts val="5077"/>
              </a:lnSpc>
              <a:spcBef>
                <a:spcPct val="0"/>
              </a:spcBef>
            </a:pPr>
            <a:endParaRPr lang="en-US" sz="3626">
              <a:solidFill>
                <a:srgbClr val="000000"/>
              </a:solidFill>
              <a:latin typeface="Chau Philomene"/>
              <a:ea typeface="Chau Philomene"/>
              <a:cs typeface="Chau Philomene"/>
              <a:sym typeface="Chau Philomene"/>
            </a:endParaRPr>
          </a:p>
        </p:txBody>
      </p:sp>
      <p:sp>
        <p:nvSpPr>
          <p:cNvPr id="10" name="TextBox 10"/>
          <p:cNvSpPr txBox="1"/>
          <p:nvPr/>
        </p:nvSpPr>
        <p:spPr>
          <a:xfrm>
            <a:off x="7542609" y="1639667"/>
            <a:ext cx="3202781" cy="895334"/>
          </a:xfrm>
          <a:prstGeom prst="rect">
            <a:avLst/>
          </a:prstGeom>
        </p:spPr>
        <p:txBody>
          <a:bodyPr lIns="0" tIns="0" rIns="0" bIns="0" rtlCol="0" anchor="t">
            <a:spAutoFit/>
          </a:bodyPr>
          <a:lstStyle/>
          <a:p>
            <a:pPr algn="ctr">
              <a:lnSpc>
                <a:spcPts val="7350"/>
              </a:lnSpc>
              <a:spcBef>
                <a:spcPct val="0"/>
              </a:spcBef>
            </a:pPr>
            <a:r>
              <a:rPr lang="en-US" sz="5250">
                <a:solidFill>
                  <a:srgbClr val="000000"/>
                </a:solidFill>
                <a:latin typeface="Chau Philomene"/>
                <a:ea typeface="Chau Philomene"/>
                <a:cs typeface="Chau Philomene"/>
                <a:sym typeface="Chau Philomene"/>
              </a:rPr>
              <a:t>OBJECTIVES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375942" y="8230379"/>
            <a:ext cx="1680680" cy="2432563"/>
          </a:xfrm>
          <a:custGeom>
            <a:avLst/>
            <a:gdLst/>
            <a:ahLst/>
            <a:cxnLst/>
            <a:rect l="l" t="t" r="r" b="b"/>
            <a:pathLst>
              <a:path w="1680680" h="2432563">
                <a:moveTo>
                  <a:pt x="0" y="0"/>
                </a:moveTo>
                <a:lnTo>
                  <a:pt x="1680679" y="0"/>
                </a:lnTo>
                <a:lnTo>
                  <a:pt x="1680679" y="2432563"/>
                </a:lnTo>
                <a:lnTo>
                  <a:pt x="0" y="243256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6229392" y="-376305"/>
            <a:ext cx="1682303" cy="2434912"/>
          </a:xfrm>
          <a:custGeom>
            <a:avLst/>
            <a:gdLst/>
            <a:ahLst/>
            <a:cxnLst/>
            <a:rect l="l" t="t" r="r" b="b"/>
            <a:pathLst>
              <a:path w="1682303" h="2434912">
                <a:moveTo>
                  <a:pt x="1682303" y="2434913"/>
                </a:moveTo>
                <a:lnTo>
                  <a:pt x="0" y="2434913"/>
                </a:lnTo>
                <a:lnTo>
                  <a:pt x="0" y="0"/>
                </a:lnTo>
                <a:lnTo>
                  <a:pt x="1682303" y="0"/>
                </a:lnTo>
                <a:lnTo>
                  <a:pt x="1682303" y="243491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1028700"/>
            <a:ext cx="2051685" cy="943775"/>
          </a:xfrm>
          <a:custGeom>
            <a:avLst/>
            <a:gdLst/>
            <a:ahLst/>
            <a:cxnLst/>
            <a:rect l="l" t="t" r="r" b="b"/>
            <a:pathLst>
              <a:path w="2051685" h="943775">
                <a:moveTo>
                  <a:pt x="0" y="0"/>
                </a:moveTo>
                <a:lnTo>
                  <a:pt x="2051685" y="0"/>
                </a:lnTo>
                <a:lnTo>
                  <a:pt x="2051685" y="943775"/>
                </a:lnTo>
                <a:lnTo>
                  <a:pt x="0" y="9437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5207722" y="8314574"/>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1552173" y="7433573"/>
            <a:ext cx="3104345" cy="921830"/>
          </a:xfrm>
          <a:custGeom>
            <a:avLst/>
            <a:gdLst/>
            <a:ahLst/>
            <a:cxnLst/>
            <a:rect l="l" t="t" r="r" b="b"/>
            <a:pathLst>
              <a:path w="3104345" h="921830">
                <a:moveTo>
                  <a:pt x="0" y="0"/>
                </a:moveTo>
                <a:lnTo>
                  <a:pt x="3104346" y="0"/>
                </a:lnTo>
                <a:lnTo>
                  <a:pt x="3104346" y="921830"/>
                </a:lnTo>
                <a:lnTo>
                  <a:pt x="0" y="9218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6734952" y="1511300"/>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630132" y="2762541"/>
            <a:ext cx="15027736" cy="6023896"/>
          </a:xfrm>
          <a:prstGeom prst="rect">
            <a:avLst/>
          </a:prstGeom>
        </p:spPr>
        <p:txBody>
          <a:bodyPr lIns="0" tIns="0" rIns="0" bIns="0" rtlCol="0" anchor="t">
            <a:spAutoFit/>
          </a:bodyPr>
          <a:lstStyle/>
          <a:p>
            <a:pPr marL="782974" lvl="1" indent="-391487" algn="just">
              <a:lnSpc>
                <a:spcPts val="5077"/>
              </a:lnSpc>
              <a:buFont typeface="Arial"/>
              <a:buChar char="•"/>
            </a:pPr>
            <a:r>
              <a:rPr lang="en-US" sz="3626">
                <a:solidFill>
                  <a:srgbClr val="000000"/>
                </a:solidFill>
                <a:latin typeface="Chau Philomene"/>
                <a:ea typeface="Chau Philomene"/>
                <a:cs typeface="Chau Philomene"/>
                <a:sym typeface="Chau Philomene"/>
              </a:rPr>
              <a:t>Agriculture depends on soil health and environmental conditions.</a:t>
            </a:r>
          </a:p>
          <a:p>
            <a:pPr marL="782974" lvl="1" indent="-391487" algn="just">
              <a:lnSpc>
                <a:spcPts val="5077"/>
              </a:lnSpc>
              <a:spcBef>
                <a:spcPct val="0"/>
              </a:spcBef>
              <a:buFont typeface="Arial"/>
              <a:buChar char="•"/>
            </a:pPr>
            <a:r>
              <a:rPr lang="en-US" sz="3626">
                <a:solidFill>
                  <a:srgbClr val="000000"/>
                </a:solidFill>
                <a:latin typeface="Chau Philomene"/>
                <a:ea typeface="Chau Philomene"/>
                <a:cs typeface="Chau Philomene"/>
                <a:sym typeface="Chau Philomene"/>
              </a:rPr>
              <a:t>NPK (Nitrogen, Phosphorus, Potassium):</a:t>
            </a:r>
          </a:p>
          <a:p>
            <a:pPr algn="just">
              <a:lnSpc>
                <a:spcPts val="4937"/>
              </a:lnSpc>
            </a:pPr>
            <a:r>
              <a:rPr lang="en-US" sz="3526">
                <a:solidFill>
                  <a:srgbClr val="000000"/>
                </a:solidFill>
                <a:latin typeface="Chau Philomene"/>
                <a:ea typeface="Chau Philomene"/>
                <a:cs typeface="Chau Philomene"/>
                <a:sym typeface="Chau Philomene"/>
              </a:rPr>
              <a:t>                </a:t>
            </a:r>
          </a:p>
          <a:p>
            <a:pPr algn="just">
              <a:lnSpc>
                <a:spcPts val="4937"/>
              </a:lnSpc>
            </a:pPr>
            <a:endParaRPr lang="en-US" sz="3526">
              <a:solidFill>
                <a:srgbClr val="000000"/>
              </a:solidFill>
              <a:latin typeface="Chau Philomene"/>
              <a:ea typeface="Chau Philomene"/>
              <a:cs typeface="Chau Philomene"/>
              <a:sym typeface="Chau Philomene"/>
            </a:endParaRPr>
          </a:p>
          <a:p>
            <a:pPr algn="just">
              <a:lnSpc>
                <a:spcPts val="4937"/>
              </a:lnSpc>
            </a:pPr>
            <a:endParaRPr lang="en-US" sz="3526">
              <a:solidFill>
                <a:srgbClr val="000000"/>
              </a:solidFill>
              <a:latin typeface="Chau Philomene"/>
              <a:ea typeface="Chau Philomene"/>
              <a:cs typeface="Chau Philomene"/>
              <a:sym typeface="Chau Philomene"/>
            </a:endParaRPr>
          </a:p>
          <a:p>
            <a:pPr algn="just">
              <a:lnSpc>
                <a:spcPts val="4937"/>
              </a:lnSpc>
            </a:pPr>
            <a:endParaRPr lang="en-US" sz="3526">
              <a:solidFill>
                <a:srgbClr val="000000"/>
              </a:solidFill>
              <a:latin typeface="Chau Philomene"/>
              <a:ea typeface="Chau Philomene"/>
              <a:cs typeface="Chau Philomene"/>
              <a:sym typeface="Chau Philomene"/>
            </a:endParaRPr>
          </a:p>
          <a:p>
            <a:pPr marL="782974" lvl="1" indent="-391487" algn="just">
              <a:lnSpc>
                <a:spcPts val="5077"/>
              </a:lnSpc>
              <a:spcBef>
                <a:spcPct val="0"/>
              </a:spcBef>
              <a:buFont typeface="Arial"/>
              <a:buChar char="•"/>
            </a:pPr>
            <a:r>
              <a:rPr lang="en-US" sz="3626">
                <a:solidFill>
                  <a:srgbClr val="000000"/>
                </a:solidFill>
                <a:latin typeface="Chau Philomene"/>
                <a:ea typeface="Chau Philomene"/>
                <a:cs typeface="Chau Philomene"/>
                <a:sym typeface="Chau Philomene"/>
              </a:rPr>
              <a:t>Soil pH: Controls nutrient availability; most crops grow best at pH 6–7.</a:t>
            </a:r>
          </a:p>
          <a:p>
            <a:pPr marL="782974" lvl="1" indent="-391487" algn="just">
              <a:lnSpc>
                <a:spcPts val="5077"/>
              </a:lnSpc>
              <a:spcBef>
                <a:spcPct val="0"/>
              </a:spcBef>
              <a:buFont typeface="Arial"/>
              <a:buChar char="•"/>
            </a:pPr>
            <a:r>
              <a:rPr lang="en-US" sz="3626">
                <a:solidFill>
                  <a:srgbClr val="000000"/>
                </a:solidFill>
                <a:latin typeface="Chau Philomene"/>
                <a:ea typeface="Chau Philomene"/>
                <a:cs typeface="Chau Philomene"/>
                <a:sym typeface="Chau Philomene"/>
              </a:rPr>
              <a:t>Environmental factors (Temperature, Humidity, Rainfall): Affect germination, growth, and yield.</a:t>
            </a:r>
          </a:p>
          <a:p>
            <a:pPr algn="l">
              <a:lnSpc>
                <a:spcPts val="2871"/>
              </a:lnSpc>
              <a:spcBef>
                <a:spcPct val="0"/>
              </a:spcBef>
            </a:pPr>
            <a:endParaRPr lang="en-US" sz="3626">
              <a:solidFill>
                <a:srgbClr val="000000"/>
              </a:solidFill>
              <a:latin typeface="Chau Philomene"/>
              <a:ea typeface="Chau Philomene"/>
              <a:cs typeface="Chau Philomene"/>
              <a:sym typeface="Chau Philomene"/>
            </a:endParaRPr>
          </a:p>
        </p:txBody>
      </p:sp>
      <p:sp>
        <p:nvSpPr>
          <p:cNvPr id="10" name="TextBox 10"/>
          <p:cNvSpPr txBox="1"/>
          <p:nvPr/>
        </p:nvSpPr>
        <p:spPr>
          <a:xfrm>
            <a:off x="1205775" y="1187011"/>
            <a:ext cx="15027736" cy="895334"/>
          </a:xfrm>
          <a:prstGeom prst="rect">
            <a:avLst/>
          </a:prstGeom>
        </p:spPr>
        <p:txBody>
          <a:bodyPr lIns="0" tIns="0" rIns="0" bIns="0" rtlCol="0" anchor="t">
            <a:spAutoFit/>
          </a:bodyPr>
          <a:lstStyle/>
          <a:p>
            <a:pPr algn="ctr">
              <a:lnSpc>
                <a:spcPts val="7350"/>
              </a:lnSpc>
              <a:spcBef>
                <a:spcPct val="0"/>
              </a:spcBef>
            </a:pPr>
            <a:r>
              <a:rPr lang="en-US" sz="5250">
                <a:solidFill>
                  <a:srgbClr val="000000"/>
                </a:solidFill>
                <a:latin typeface="Chau Philomene"/>
                <a:ea typeface="Chau Philomene"/>
                <a:cs typeface="Chau Philomene"/>
                <a:sym typeface="Chau Philomene"/>
              </a:rPr>
              <a:t>WHY THIS PROBLEM MATTERS</a:t>
            </a:r>
          </a:p>
        </p:txBody>
      </p:sp>
      <p:sp>
        <p:nvSpPr>
          <p:cNvPr id="11" name="TextBox 11"/>
          <p:cNvSpPr txBox="1"/>
          <p:nvPr/>
        </p:nvSpPr>
        <p:spPr>
          <a:xfrm>
            <a:off x="3554272" y="4311092"/>
            <a:ext cx="12538163" cy="2539961"/>
          </a:xfrm>
          <a:prstGeom prst="rect">
            <a:avLst/>
          </a:prstGeom>
        </p:spPr>
        <p:txBody>
          <a:bodyPr lIns="0" tIns="0" rIns="0" bIns="0" rtlCol="0" anchor="t">
            <a:spAutoFit/>
          </a:bodyPr>
          <a:lstStyle/>
          <a:p>
            <a:pPr marL="782047" lvl="1" indent="-391024" algn="l">
              <a:lnSpc>
                <a:spcPts val="5071"/>
              </a:lnSpc>
              <a:buFont typeface="Arial"/>
              <a:buChar char="•"/>
            </a:pPr>
            <a:r>
              <a:rPr lang="en-US" sz="3622">
                <a:solidFill>
                  <a:srgbClr val="000000"/>
                </a:solidFill>
                <a:latin typeface="Chau Philomene"/>
                <a:ea typeface="Chau Philomene"/>
                <a:cs typeface="Chau Philomene"/>
                <a:sym typeface="Chau Philomene"/>
              </a:rPr>
              <a:t> Nitrogen (N): Encourages leaf &amp; stem growth.</a:t>
            </a:r>
          </a:p>
          <a:p>
            <a:pPr marL="782047" lvl="1" indent="-391024" algn="l">
              <a:lnSpc>
                <a:spcPts val="5071"/>
              </a:lnSpc>
              <a:buFont typeface="Arial"/>
              <a:buChar char="•"/>
            </a:pPr>
            <a:r>
              <a:rPr lang="en-US" sz="3622">
                <a:solidFill>
                  <a:srgbClr val="000000"/>
                </a:solidFill>
                <a:latin typeface="Chau Philomene"/>
                <a:ea typeface="Chau Philomene"/>
                <a:cs typeface="Chau Philomene"/>
                <a:sym typeface="Chau Philomene"/>
              </a:rPr>
              <a:t> Phosphorus (P): Promotes root development &amp; energy transfer.</a:t>
            </a:r>
          </a:p>
          <a:p>
            <a:pPr marL="782047" lvl="1" indent="-391024" algn="l">
              <a:lnSpc>
                <a:spcPts val="5071"/>
              </a:lnSpc>
              <a:buFont typeface="Arial"/>
              <a:buChar char="•"/>
            </a:pPr>
            <a:r>
              <a:rPr lang="en-US" sz="3622">
                <a:solidFill>
                  <a:srgbClr val="000000"/>
                </a:solidFill>
                <a:latin typeface="Chau Philomene"/>
                <a:ea typeface="Chau Philomene"/>
                <a:cs typeface="Chau Philomene"/>
                <a:sym typeface="Chau Philomene"/>
              </a:rPr>
              <a:t> Potassium (K): Improves disease resistance and crop quality.</a:t>
            </a:r>
          </a:p>
          <a:p>
            <a:pPr algn="l">
              <a:lnSpc>
                <a:spcPts val="5071"/>
              </a:lnSpc>
            </a:pPr>
            <a:endParaRPr lang="en-US" sz="3622">
              <a:solidFill>
                <a:srgbClr val="000000"/>
              </a:solidFill>
              <a:latin typeface="Chau Philomene"/>
              <a:ea typeface="Chau Philomene"/>
              <a:cs typeface="Chau Philomene"/>
              <a:sym typeface="Chau Philomene"/>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472722" y="7700935"/>
            <a:ext cx="2113344" cy="3058787"/>
          </a:xfrm>
          <a:custGeom>
            <a:avLst/>
            <a:gdLst/>
            <a:ahLst/>
            <a:cxnLst/>
            <a:rect l="l" t="t" r="r" b="b"/>
            <a:pathLst>
              <a:path w="2113344" h="3058787">
                <a:moveTo>
                  <a:pt x="0" y="0"/>
                </a:moveTo>
                <a:lnTo>
                  <a:pt x="2113343" y="0"/>
                </a:lnTo>
                <a:lnTo>
                  <a:pt x="2113343" y="3058787"/>
                </a:lnTo>
                <a:lnTo>
                  <a:pt x="0" y="305878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5140335" y="-575380"/>
            <a:ext cx="2572285" cy="3723045"/>
          </a:xfrm>
          <a:custGeom>
            <a:avLst/>
            <a:gdLst/>
            <a:ahLst/>
            <a:cxnLst/>
            <a:rect l="l" t="t" r="r" b="b"/>
            <a:pathLst>
              <a:path w="2572285" h="3723045">
                <a:moveTo>
                  <a:pt x="2572285" y="3723045"/>
                </a:moveTo>
                <a:lnTo>
                  <a:pt x="0" y="3723045"/>
                </a:lnTo>
                <a:lnTo>
                  <a:pt x="0" y="0"/>
                </a:lnTo>
                <a:lnTo>
                  <a:pt x="2572285" y="0"/>
                </a:lnTo>
                <a:lnTo>
                  <a:pt x="2572285" y="3723045"/>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364694" y="930146"/>
            <a:ext cx="2051685" cy="943775"/>
          </a:xfrm>
          <a:custGeom>
            <a:avLst/>
            <a:gdLst/>
            <a:ahLst/>
            <a:cxnLst/>
            <a:rect l="l" t="t" r="r" b="b"/>
            <a:pathLst>
              <a:path w="2051685" h="943775">
                <a:moveTo>
                  <a:pt x="0" y="0"/>
                </a:moveTo>
                <a:lnTo>
                  <a:pt x="2051685" y="0"/>
                </a:lnTo>
                <a:lnTo>
                  <a:pt x="2051685" y="943775"/>
                </a:lnTo>
                <a:lnTo>
                  <a:pt x="0" y="9437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4845101" y="8786437"/>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382388" y="7245212"/>
            <a:ext cx="3104345" cy="921830"/>
          </a:xfrm>
          <a:custGeom>
            <a:avLst/>
            <a:gdLst/>
            <a:ahLst/>
            <a:cxnLst/>
            <a:rect l="l" t="t" r="r" b="b"/>
            <a:pathLst>
              <a:path w="3104345" h="921830">
                <a:moveTo>
                  <a:pt x="0" y="0"/>
                </a:moveTo>
                <a:lnTo>
                  <a:pt x="3104345" y="0"/>
                </a:lnTo>
                <a:lnTo>
                  <a:pt x="3104345" y="921831"/>
                </a:lnTo>
                <a:lnTo>
                  <a:pt x="0" y="9218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343631" y="2022019"/>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2275451" y="2496085"/>
            <a:ext cx="14621228" cy="6460473"/>
          </a:xfrm>
          <a:prstGeom prst="rect">
            <a:avLst/>
          </a:prstGeom>
        </p:spPr>
        <p:txBody>
          <a:bodyPr lIns="0" tIns="0" rIns="0" bIns="0" rtlCol="0" anchor="t">
            <a:spAutoFit/>
          </a:bodyPr>
          <a:lstStyle/>
          <a:p>
            <a:pPr marL="788183" lvl="1" indent="-394091" algn="l">
              <a:lnSpc>
                <a:spcPts val="5110"/>
              </a:lnSpc>
              <a:buFont typeface="Arial"/>
              <a:buChar char="•"/>
            </a:pPr>
            <a:r>
              <a:rPr lang="en-US" sz="3650">
                <a:solidFill>
                  <a:srgbClr val="000000"/>
                </a:solidFill>
                <a:latin typeface="Chau Philomene"/>
                <a:ea typeface="Chau Philomene"/>
                <a:cs typeface="Chau Philomene"/>
                <a:sym typeface="Chau Philomene"/>
              </a:rPr>
              <a:t>NPK levels (mg/kg): Each crop needs a different balance.</a:t>
            </a:r>
          </a:p>
          <a:p>
            <a:pPr marL="788183" lvl="1" indent="-394091" algn="l">
              <a:lnSpc>
                <a:spcPts val="5110"/>
              </a:lnSpc>
              <a:buFont typeface="Arial"/>
              <a:buChar char="•"/>
            </a:pPr>
            <a:r>
              <a:rPr lang="en-US" sz="3650">
                <a:solidFill>
                  <a:srgbClr val="000000"/>
                </a:solidFill>
                <a:latin typeface="Chau Philomene"/>
                <a:ea typeface="Chau Philomene"/>
                <a:cs typeface="Chau Philomene"/>
                <a:sym typeface="Chau Philomene"/>
              </a:rPr>
              <a:t>pH (0–14): Determines crop suitability (e.g., rice prefers 5.5–6.5).</a:t>
            </a:r>
          </a:p>
          <a:p>
            <a:pPr marL="788183" lvl="1" indent="-394091" algn="l">
              <a:lnSpc>
                <a:spcPts val="5110"/>
              </a:lnSpc>
              <a:buFont typeface="Arial"/>
              <a:buChar char="•"/>
            </a:pPr>
            <a:r>
              <a:rPr lang="en-US" sz="3650">
                <a:solidFill>
                  <a:srgbClr val="000000"/>
                </a:solidFill>
                <a:latin typeface="Chau Philomene"/>
                <a:ea typeface="Chau Philomene"/>
                <a:cs typeface="Chau Philomene"/>
                <a:sym typeface="Chau Philomene"/>
              </a:rPr>
              <a:t>Temperature (°C): Warm-season vs. cool-season crops differ in requirements.</a:t>
            </a:r>
          </a:p>
          <a:p>
            <a:pPr marL="788183" lvl="1" indent="-394091" algn="l">
              <a:lnSpc>
                <a:spcPts val="5110"/>
              </a:lnSpc>
              <a:buFont typeface="Arial"/>
              <a:buChar char="•"/>
            </a:pPr>
            <a:r>
              <a:rPr lang="en-US" sz="3650">
                <a:solidFill>
                  <a:srgbClr val="000000"/>
                </a:solidFill>
                <a:latin typeface="Chau Philomene"/>
                <a:ea typeface="Chau Philomene"/>
                <a:cs typeface="Chau Philomene"/>
                <a:sym typeface="Chau Philomene"/>
              </a:rPr>
              <a:t>Humidity (%): Affects water retention and plant disease risks.</a:t>
            </a:r>
          </a:p>
          <a:p>
            <a:pPr marL="788183" lvl="1" indent="-394091" algn="l">
              <a:lnSpc>
                <a:spcPts val="5110"/>
              </a:lnSpc>
              <a:buFont typeface="Arial"/>
              <a:buChar char="•"/>
            </a:pPr>
            <a:r>
              <a:rPr lang="en-US" sz="3650">
                <a:solidFill>
                  <a:srgbClr val="000000"/>
                </a:solidFill>
                <a:latin typeface="Chau Philomene"/>
                <a:ea typeface="Chau Philomene"/>
                <a:cs typeface="Chau Philomene"/>
                <a:sym typeface="Chau Philomene"/>
              </a:rPr>
              <a:t>Rainfall (mm): Water needs vary by crop (e.g., rice ~1200 mm, pulses much less).</a:t>
            </a:r>
          </a:p>
          <a:p>
            <a:pPr algn="l">
              <a:lnSpc>
                <a:spcPts val="5110"/>
              </a:lnSpc>
            </a:pPr>
            <a:r>
              <a:rPr lang="en-US" sz="3650">
                <a:solidFill>
                  <a:srgbClr val="000000"/>
                </a:solidFill>
                <a:latin typeface="Chau Philomene"/>
                <a:ea typeface="Chau Philomene"/>
                <a:cs typeface="Chau Philomene"/>
                <a:sym typeface="Chau Philomene"/>
              </a:rPr>
              <a:t>These KPIs guide the ML model to provide accurate crop and fertilizer recommendations.</a:t>
            </a:r>
          </a:p>
          <a:p>
            <a:pPr algn="l">
              <a:lnSpc>
                <a:spcPts val="5110"/>
              </a:lnSpc>
            </a:pPr>
            <a:endParaRPr lang="en-US" sz="3650">
              <a:solidFill>
                <a:srgbClr val="000000"/>
              </a:solidFill>
              <a:latin typeface="Chau Philomene"/>
              <a:ea typeface="Chau Philomene"/>
              <a:cs typeface="Chau Philomene"/>
              <a:sym typeface="Chau Philomene"/>
            </a:endParaRPr>
          </a:p>
        </p:txBody>
      </p:sp>
      <p:sp>
        <p:nvSpPr>
          <p:cNvPr id="10" name="TextBox 10"/>
          <p:cNvSpPr txBox="1"/>
          <p:nvPr/>
        </p:nvSpPr>
        <p:spPr>
          <a:xfrm>
            <a:off x="6005008" y="906742"/>
            <a:ext cx="4688562" cy="895334"/>
          </a:xfrm>
          <a:prstGeom prst="rect">
            <a:avLst/>
          </a:prstGeom>
        </p:spPr>
        <p:txBody>
          <a:bodyPr lIns="0" tIns="0" rIns="0" bIns="0" rtlCol="0" anchor="t">
            <a:spAutoFit/>
          </a:bodyPr>
          <a:lstStyle/>
          <a:p>
            <a:pPr algn="ctr">
              <a:lnSpc>
                <a:spcPts val="7350"/>
              </a:lnSpc>
              <a:spcBef>
                <a:spcPct val="0"/>
              </a:spcBef>
            </a:pPr>
            <a:r>
              <a:rPr lang="en-US" sz="5250">
                <a:solidFill>
                  <a:srgbClr val="000000"/>
                </a:solidFill>
                <a:latin typeface="Chau Philomene"/>
                <a:ea typeface="Chau Philomene"/>
                <a:cs typeface="Chau Philomene"/>
                <a:sym typeface="Chau Philomene"/>
              </a:rPr>
              <a:t>KEY PARAMETERS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63927" y="9390221"/>
            <a:ext cx="732851" cy="1060706"/>
          </a:xfrm>
          <a:custGeom>
            <a:avLst/>
            <a:gdLst/>
            <a:ahLst/>
            <a:cxnLst/>
            <a:rect l="l" t="t" r="r" b="b"/>
            <a:pathLst>
              <a:path w="732851" h="1060706">
                <a:moveTo>
                  <a:pt x="0" y="0"/>
                </a:moveTo>
                <a:lnTo>
                  <a:pt x="732852" y="0"/>
                </a:lnTo>
                <a:lnTo>
                  <a:pt x="732852" y="1060706"/>
                </a:lnTo>
                <a:lnTo>
                  <a:pt x="0" y="10607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5537402" y="-502798"/>
            <a:ext cx="2247801" cy="3253396"/>
          </a:xfrm>
          <a:custGeom>
            <a:avLst/>
            <a:gdLst/>
            <a:ahLst/>
            <a:cxnLst/>
            <a:rect l="l" t="t" r="r" b="b"/>
            <a:pathLst>
              <a:path w="2247801" h="3253396">
                <a:moveTo>
                  <a:pt x="2247800" y="3253396"/>
                </a:moveTo>
                <a:lnTo>
                  <a:pt x="0" y="3253396"/>
                </a:lnTo>
                <a:lnTo>
                  <a:pt x="0" y="0"/>
                </a:lnTo>
                <a:lnTo>
                  <a:pt x="2247800" y="0"/>
                </a:lnTo>
                <a:lnTo>
                  <a:pt x="2247800" y="3253396"/>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72634" y="369690"/>
            <a:ext cx="1976144" cy="909026"/>
          </a:xfrm>
          <a:custGeom>
            <a:avLst/>
            <a:gdLst/>
            <a:ahLst/>
            <a:cxnLst/>
            <a:rect l="l" t="t" r="r" b="b"/>
            <a:pathLst>
              <a:path w="1976144" h="909026">
                <a:moveTo>
                  <a:pt x="0" y="0"/>
                </a:moveTo>
                <a:lnTo>
                  <a:pt x="1976144" y="0"/>
                </a:lnTo>
                <a:lnTo>
                  <a:pt x="1976144" y="909026"/>
                </a:lnTo>
                <a:lnTo>
                  <a:pt x="0" y="90902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rot="-5400000">
            <a:off x="-1644967" y="5951021"/>
            <a:ext cx="3435203" cy="1020078"/>
          </a:xfrm>
          <a:custGeom>
            <a:avLst/>
            <a:gdLst/>
            <a:ahLst/>
            <a:cxnLst/>
            <a:rect l="l" t="t" r="r" b="b"/>
            <a:pathLst>
              <a:path w="3435203" h="1020078">
                <a:moveTo>
                  <a:pt x="0" y="0"/>
                </a:moveTo>
                <a:lnTo>
                  <a:pt x="3435203" y="0"/>
                </a:lnTo>
                <a:lnTo>
                  <a:pt x="3435203" y="1020078"/>
                </a:lnTo>
                <a:lnTo>
                  <a:pt x="0" y="1020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rot="-5400000">
            <a:off x="15031660" y="2236263"/>
            <a:ext cx="3435203" cy="1020078"/>
          </a:xfrm>
          <a:custGeom>
            <a:avLst/>
            <a:gdLst/>
            <a:ahLst/>
            <a:cxnLst/>
            <a:rect l="l" t="t" r="r" b="b"/>
            <a:pathLst>
              <a:path w="3435203" h="1020078">
                <a:moveTo>
                  <a:pt x="0" y="0"/>
                </a:moveTo>
                <a:lnTo>
                  <a:pt x="3435203" y="0"/>
                </a:lnTo>
                <a:lnTo>
                  <a:pt x="3435203" y="1020077"/>
                </a:lnTo>
                <a:lnTo>
                  <a:pt x="0" y="10200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a:off x="4365062" y="1503521"/>
            <a:ext cx="7917404" cy="4765202"/>
          </a:xfrm>
          <a:custGeom>
            <a:avLst/>
            <a:gdLst/>
            <a:ahLst/>
            <a:cxnLst/>
            <a:rect l="l" t="t" r="r" b="b"/>
            <a:pathLst>
              <a:path w="7917404" h="4765202">
                <a:moveTo>
                  <a:pt x="0" y="0"/>
                </a:moveTo>
                <a:lnTo>
                  <a:pt x="7917404" y="0"/>
                </a:lnTo>
                <a:lnTo>
                  <a:pt x="7917404" y="4765201"/>
                </a:lnTo>
                <a:lnTo>
                  <a:pt x="0" y="4765201"/>
                </a:lnTo>
                <a:lnTo>
                  <a:pt x="0" y="0"/>
                </a:lnTo>
                <a:close/>
              </a:path>
            </a:pathLst>
          </a:custGeom>
          <a:blipFill>
            <a:blip r:embed="rId8"/>
            <a:stretch>
              <a:fillRect/>
            </a:stretch>
          </a:blipFill>
        </p:spPr>
      </p:sp>
      <p:sp>
        <p:nvSpPr>
          <p:cNvPr id="8" name="TextBox 8"/>
          <p:cNvSpPr txBox="1"/>
          <p:nvPr/>
        </p:nvSpPr>
        <p:spPr>
          <a:xfrm>
            <a:off x="2915296" y="458947"/>
            <a:ext cx="9367170" cy="819768"/>
          </a:xfrm>
          <a:prstGeom prst="rect">
            <a:avLst/>
          </a:prstGeom>
        </p:spPr>
        <p:txBody>
          <a:bodyPr lIns="0" tIns="0" rIns="0" bIns="0" rtlCol="0" anchor="t">
            <a:spAutoFit/>
          </a:bodyPr>
          <a:lstStyle/>
          <a:p>
            <a:pPr algn="ctr">
              <a:lnSpc>
                <a:spcPts val="6790"/>
              </a:lnSpc>
              <a:spcBef>
                <a:spcPct val="0"/>
              </a:spcBef>
            </a:pPr>
            <a:r>
              <a:rPr lang="en-US" sz="4850">
                <a:solidFill>
                  <a:srgbClr val="000000"/>
                </a:solidFill>
                <a:latin typeface="Chau Philomene"/>
                <a:ea typeface="Chau Philomene"/>
                <a:cs typeface="Chau Philomene"/>
                <a:sym typeface="Chau Philomene"/>
              </a:rPr>
              <a:t>Example</a:t>
            </a:r>
          </a:p>
        </p:txBody>
      </p:sp>
      <p:sp>
        <p:nvSpPr>
          <p:cNvPr id="9" name="TextBox 9"/>
          <p:cNvSpPr txBox="1"/>
          <p:nvPr/>
        </p:nvSpPr>
        <p:spPr>
          <a:xfrm>
            <a:off x="1568438" y="6417327"/>
            <a:ext cx="16388433" cy="3869673"/>
          </a:xfrm>
          <a:prstGeom prst="rect">
            <a:avLst/>
          </a:prstGeom>
        </p:spPr>
        <p:txBody>
          <a:bodyPr lIns="0" tIns="0" rIns="0" bIns="0" rtlCol="0" anchor="t">
            <a:spAutoFit/>
          </a:bodyPr>
          <a:lstStyle/>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Cotton and mungbean require higher humidity (80–85%) compared to other crops like chickpea (~20%).</a:t>
            </a: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Temperature requirements remain moderate (20–28°C) across most crops, with slight variations.</a:t>
            </a: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Selecting crops based on these environmental conditions ensures better yield and resource efficiency.</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727247" y="6308532"/>
            <a:ext cx="3251221" cy="4705715"/>
          </a:xfrm>
          <a:custGeom>
            <a:avLst/>
            <a:gdLst/>
            <a:ahLst/>
            <a:cxnLst/>
            <a:rect l="l" t="t" r="r" b="b"/>
            <a:pathLst>
              <a:path w="3251221" h="4705715">
                <a:moveTo>
                  <a:pt x="0" y="0"/>
                </a:moveTo>
                <a:lnTo>
                  <a:pt x="3251221" y="0"/>
                </a:lnTo>
                <a:lnTo>
                  <a:pt x="3251221" y="4705715"/>
                </a:lnTo>
                <a:lnTo>
                  <a:pt x="0" y="47057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4306397" y="-727820"/>
            <a:ext cx="3253783" cy="4709423"/>
          </a:xfrm>
          <a:custGeom>
            <a:avLst/>
            <a:gdLst/>
            <a:ahLst/>
            <a:cxnLst/>
            <a:rect l="l" t="t" r="r" b="b"/>
            <a:pathLst>
              <a:path w="3253783" h="4709423">
                <a:moveTo>
                  <a:pt x="3253783" y="4709423"/>
                </a:moveTo>
                <a:lnTo>
                  <a:pt x="0" y="4709423"/>
                </a:lnTo>
                <a:lnTo>
                  <a:pt x="0" y="0"/>
                </a:lnTo>
                <a:lnTo>
                  <a:pt x="3253783" y="0"/>
                </a:lnTo>
                <a:lnTo>
                  <a:pt x="3253783" y="470942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1028700"/>
            <a:ext cx="2051685" cy="943775"/>
          </a:xfrm>
          <a:custGeom>
            <a:avLst/>
            <a:gdLst/>
            <a:ahLst/>
            <a:cxnLst/>
            <a:rect l="l" t="t" r="r" b="b"/>
            <a:pathLst>
              <a:path w="2051685" h="943775">
                <a:moveTo>
                  <a:pt x="0" y="0"/>
                </a:moveTo>
                <a:lnTo>
                  <a:pt x="2051685" y="0"/>
                </a:lnTo>
                <a:lnTo>
                  <a:pt x="2051685" y="943775"/>
                </a:lnTo>
                <a:lnTo>
                  <a:pt x="0" y="9437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5207722" y="8314574"/>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161636" y="7344290"/>
            <a:ext cx="3104345" cy="921830"/>
          </a:xfrm>
          <a:custGeom>
            <a:avLst/>
            <a:gdLst/>
            <a:ahLst/>
            <a:cxnLst/>
            <a:rect l="l" t="t" r="r" b="b"/>
            <a:pathLst>
              <a:path w="3104345" h="921830">
                <a:moveTo>
                  <a:pt x="0" y="0"/>
                </a:moveTo>
                <a:lnTo>
                  <a:pt x="3104346" y="0"/>
                </a:lnTo>
                <a:lnTo>
                  <a:pt x="3104346" y="921831"/>
                </a:lnTo>
                <a:lnTo>
                  <a:pt x="0" y="9218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706252" y="2022019"/>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5101873" y="1604417"/>
            <a:ext cx="6455215" cy="878777"/>
          </a:xfrm>
          <a:prstGeom prst="rect">
            <a:avLst/>
          </a:prstGeom>
        </p:spPr>
        <p:txBody>
          <a:bodyPr lIns="0" tIns="0" rIns="0" bIns="0" rtlCol="0" anchor="t">
            <a:spAutoFit/>
          </a:bodyPr>
          <a:lstStyle/>
          <a:p>
            <a:pPr algn="ctr">
              <a:lnSpc>
                <a:spcPts val="7350"/>
              </a:lnSpc>
            </a:pPr>
            <a:r>
              <a:rPr lang="en-US" sz="5250">
                <a:solidFill>
                  <a:srgbClr val="000000"/>
                </a:solidFill>
                <a:latin typeface="Chau Philomene"/>
                <a:ea typeface="Chau Philomene"/>
                <a:cs typeface="Chau Philomene"/>
                <a:sym typeface="Chau Philomene"/>
              </a:rPr>
              <a:t>SOLUTION</a:t>
            </a:r>
          </a:p>
        </p:txBody>
      </p:sp>
      <p:sp>
        <p:nvSpPr>
          <p:cNvPr id="10" name="TextBox 10"/>
          <p:cNvSpPr txBox="1"/>
          <p:nvPr/>
        </p:nvSpPr>
        <p:spPr>
          <a:xfrm>
            <a:off x="2377345" y="3445993"/>
            <a:ext cx="13856166" cy="3839107"/>
          </a:xfrm>
          <a:prstGeom prst="rect">
            <a:avLst/>
          </a:prstGeom>
        </p:spPr>
        <p:txBody>
          <a:bodyPr lIns="0" tIns="0" rIns="0" bIns="0" rtlCol="0" anchor="t">
            <a:spAutoFit/>
          </a:bodyPr>
          <a:lstStyle/>
          <a:p>
            <a:pPr marL="774862" lvl="1" indent="-387431" algn="l">
              <a:lnSpc>
                <a:spcPts val="5024"/>
              </a:lnSpc>
              <a:buFont typeface="Arial"/>
              <a:buChar char="•"/>
            </a:pPr>
            <a:r>
              <a:rPr lang="en-US" sz="3588">
                <a:solidFill>
                  <a:srgbClr val="000000"/>
                </a:solidFill>
                <a:latin typeface="Chau Philomene"/>
                <a:ea typeface="Chau Philomene"/>
                <a:cs typeface="Chau Philomene"/>
                <a:sym typeface="Chau Philomene"/>
              </a:rPr>
              <a:t>Developed a data-driven system for crop and fertilizer recommendations.</a:t>
            </a:r>
          </a:p>
          <a:p>
            <a:pPr algn="l">
              <a:lnSpc>
                <a:spcPts val="5024"/>
              </a:lnSpc>
            </a:pPr>
            <a:endParaRPr lang="en-US" sz="3588">
              <a:solidFill>
                <a:srgbClr val="000000"/>
              </a:solidFill>
              <a:latin typeface="Chau Philomene"/>
              <a:ea typeface="Chau Philomene"/>
              <a:cs typeface="Chau Philomene"/>
              <a:sym typeface="Chau Philomene"/>
            </a:endParaRPr>
          </a:p>
          <a:p>
            <a:pPr marL="774862" lvl="1" indent="-387431" algn="l">
              <a:lnSpc>
                <a:spcPts val="5024"/>
              </a:lnSpc>
              <a:buFont typeface="Arial"/>
              <a:buChar char="•"/>
            </a:pPr>
            <a:r>
              <a:rPr lang="en-US" sz="3588">
                <a:solidFill>
                  <a:srgbClr val="000000"/>
                </a:solidFill>
                <a:latin typeface="Chau Philomene"/>
                <a:ea typeface="Chau Philomene"/>
                <a:cs typeface="Chau Philomene"/>
                <a:sym typeface="Chau Philomene"/>
              </a:rPr>
              <a:t>Inputs: Soil NPK, pH, temperature, humidity, rainfall.</a:t>
            </a:r>
          </a:p>
          <a:p>
            <a:pPr algn="l">
              <a:lnSpc>
                <a:spcPts val="5024"/>
              </a:lnSpc>
            </a:pPr>
            <a:endParaRPr lang="en-US" sz="3588">
              <a:solidFill>
                <a:srgbClr val="000000"/>
              </a:solidFill>
              <a:latin typeface="Chau Philomene"/>
              <a:ea typeface="Chau Philomene"/>
              <a:cs typeface="Chau Philomene"/>
              <a:sym typeface="Chau Philomene"/>
            </a:endParaRPr>
          </a:p>
          <a:p>
            <a:pPr marL="774862" lvl="1" indent="-387431" algn="l">
              <a:lnSpc>
                <a:spcPts val="5024"/>
              </a:lnSpc>
              <a:buFont typeface="Arial"/>
              <a:buChar char="•"/>
            </a:pPr>
            <a:r>
              <a:rPr lang="en-US" sz="3588">
                <a:solidFill>
                  <a:srgbClr val="000000"/>
                </a:solidFill>
                <a:latin typeface="Chau Philomene"/>
                <a:ea typeface="Chau Philomene"/>
                <a:cs typeface="Chau Philomene"/>
                <a:sym typeface="Chau Philomene"/>
              </a:rPr>
              <a:t>Outputs: Top 3 crop suggestions with fertilizer and water advice.</a:t>
            </a:r>
          </a:p>
          <a:p>
            <a:pPr algn="l">
              <a:lnSpc>
                <a:spcPts val="5437"/>
              </a:lnSpc>
            </a:pPr>
            <a:endParaRPr lang="en-US" sz="3588">
              <a:solidFill>
                <a:srgbClr val="000000"/>
              </a:solidFill>
              <a:latin typeface="Chau Philomene"/>
              <a:ea typeface="Chau Philomene"/>
              <a:cs typeface="Chau Philomene"/>
              <a:sym typeface="Chau Philomen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46439" y="7844717"/>
            <a:ext cx="1995844" cy="2888722"/>
          </a:xfrm>
          <a:custGeom>
            <a:avLst/>
            <a:gdLst/>
            <a:ahLst/>
            <a:cxnLst/>
            <a:rect l="l" t="t" r="r" b="b"/>
            <a:pathLst>
              <a:path w="1995844" h="2888722">
                <a:moveTo>
                  <a:pt x="0" y="0"/>
                </a:moveTo>
                <a:lnTo>
                  <a:pt x="1995844" y="0"/>
                </a:lnTo>
                <a:lnTo>
                  <a:pt x="1995844" y="2888722"/>
                </a:lnTo>
                <a:lnTo>
                  <a:pt x="0" y="288872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347359" y="-720332"/>
            <a:ext cx="3220309" cy="4660974"/>
          </a:xfrm>
          <a:custGeom>
            <a:avLst/>
            <a:gdLst/>
            <a:ahLst/>
            <a:cxnLst/>
            <a:rect l="l" t="t" r="r" b="b"/>
            <a:pathLst>
              <a:path w="3220309" h="4660974">
                <a:moveTo>
                  <a:pt x="3220309" y="4660973"/>
                </a:moveTo>
                <a:lnTo>
                  <a:pt x="0" y="4660973"/>
                </a:lnTo>
                <a:lnTo>
                  <a:pt x="0" y="0"/>
                </a:lnTo>
                <a:lnTo>
                  <a:pt x="3220309" y="0"/>
                </a:lnTo>
                <a:lnTo>
                  <a:pt x="3220309" y="466097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496795" y="1232825"/>
            <a:ext cx="2618309" cy="1204422"/>
          </a:xfrm>
          <a:custGeom>
            <a:avLst/>
            <a:gdLst/>
            <a:ahLst/>
            <a:cxnLst/>
            <a:rect l="l" t="t" r="r" b="b"/>
            <a:pathLst>
              <a:path w="2618309" h="1204422">
                <a:moveTo>
                  <a:pt x="0" y="0"/>
                </a:moveTo>
                <a:lnTo>
                  <a:pt x="2618309" y="0"/>
                </a:lnTo>
                <a:lnTo>
                  <a:pt x="2618309" y="1204422"/>
                </a:lnTo>
                <a:lnTo>
                  <a:pt x="0" y="1204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648358" y="8517459"/>
            <a:ext cx="2618309" cy="1204422"/>
          </a:xfrm>
          <a:custGeom>
            <a:avLst/>
            <a:gdLst/>
            <a:ahLst/>
            <a:cxnLst/>
            <a:rect l="l" t="t" r="r" b="b"/>
            <a:pathLst>
              <a:path w="2618309" h="1204422">
                <a:moveTo>
                  <a:pt x="2618310" y="0"/>
                </a:moveTo>
                <a:lnTo>
                  <a:pt x="0" y="0"/>
                </a:lnTo>
                <a:lnTo>
                  <a:pt x="0" y="1204422"/>
                </a:lnTo>
                <a:lnTo>
                  <a:pt x="2618310" y="1204422"/>
                </a:lnTo>
                <a:lnTo>
                  <a:pt x="261831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421691" y="7781117"/>
            <a:ext cx="3435203" cy="1020078"/>
          </a:xfrm>
          <a:custGeom>
            <a:avLst/>
            <a:gdLst/>
            <a:ahLst/>
            <a:cxnLst/>
            <a:rect l="l" t="t" r="r" b="b"/>
            <a:pathLst>
              <a:path w="3435203" h="1020078">
                <a:moveTo>
                  <a:pt x="0" y="0"/>
                </a:moveTo>
                <a:lnTo>
                  <a:pt x="3435203" y="0"/>
                </a:lnTo>
                <a:lnTo>
                  <a:pt x="3435203" y="1020078"/>
                </a:lnTo>
                <a:lnTo>
                  <a:pt x="0" y="1020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a:off x="15541699" y="1927208"/>
            <a:ext cx="3435203" cy="1020078"/>
          </a:xfrm>
          <a:custGeom>
            <a:avLst/>
            <a:gdLst/>
            <a:ahLst/>
            <a:cxnLst/>
            <a:rect l="l" t="t" r="r" b="b"/>
            <a:pathLst>
              <a:path w="3435203" h="1020078">
                <a:moveTo>
                  <a:pt x="0" y="0"/>
                </a:moveTo>
                <a:lnTo>
                  <a:pt x="3435202" y="0"/>
                </a:lnTo>
                <a:lnTo>
                  <a:pt x="3435202" y="1020078"/>
                </a:lnTo>
                <a:lnTo>
                  <a:pt x="0" y="1020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6340870" y="1339744"/>
            <a:ext cx="4327129" cy="909095"/>
          </a:xfrm>
          <a:prstGeom prst="rect">
            <a:avLst/>
          </a:prstGeom>
        </p:spPr>
        <p:txBody>
          <a:bodyPr wrap="square" lIns="0" tIns="0" rIns="0" bIns="0" rtlCol="0" anchor="t">
            <a:spAutoFit/>
          </a:bodyPr>
          <a:lstStyle/>
          <a:p>
            <a:pPr algn="ctr">
              <a:lnSpc>
                <a:spcPts val="7350"/>
              </a:lnSpc>
              <a:spcBef>
                <a:spcPct val="0"/>
              </a:spcBef>
            </a:pPr>
            <a:r>
              <a:rPr lang="en-US" sz="5250" dirty="0">
                <a:solidFill>
                  <a:srgbClr val="000000"/>
                </a:solidFill>
                <a:latin typeface="Chau Philomene"/>
                <a:ea typeface="Chau Philomene"/>
                <a:cs typeface="Chau Philomene"/>
                <a:sym typeface="Chau Philomene"/>
              </a:rPr>
              <a:t>OUR APPROACH</a:t>
            </a:r>
          </a:p>
        </p:txBody>
      </p:sp>
      <p:sp>
        <p:nvSpPr>
          <p:cNvPr id="9" name="TextBox 9"/>
          <p:cNvSpPr txBox="1"/>
          <p:nvPr/>
        </p:nvSpPr>
        <p:spPr>
          <a:xfrm>
            <a:off x="1805950" y="3792036"/>
            <a:ext cx="14640991" cy="3851419"/>
          </a:xfrm>
          <a:prstGeom prst="rect">
            <a:avLst/>
          </a:prstGeom>
        </p:spPr>
        <p:txBody>
          <a:bodyPr lIns="0" tIns="0" rIns="0" bIns="0" rtlCol="0" anchor="t">
            <a:spAutoFit/>
          </a:bodyPr>
          <a:lstStyle/>
          <a:p>
            <a:pPr marL="792764" lvl="1" indent="-396382" algn="just">
              <a:lnSpc>
                <a:spcPts val="5140"/>
              </a:lnSpc>
              <a:buFont typeface="Arial"/>
              <a:buChar char="•"/>
            </a:pPr>
            <a:r>
              <a:rPr lang="en-US" sz="3671">
                <a:solidFill>
                  <a:srgbClr val="000000"/>
                </a:solidFill>
                <a:latin typeface="Chau Philomene"/>
                <a:ea typeface="Chau Philomene"/>
                <a:cs typeface="Chau Philomene"/>
                <a:sym typeface="Chau Philomene"/>
              </a:rPr>
              <a:t>Data Preprocessing: Cleaned and scaled data from Kaggle Crop Recommendation Dataset.</a:t>
            </a:r>
          </a:p>
          <a:p>
            <a:pPr marL="792764" lvl="1" indent="-396382" algn="just">
              <a:lnSpc>
                <a:spcPts val="5140"/>
              </a:lnSpc>
              <a:buFont typeface="Arial"/>
              <a:buChar char="•"/>
            </a:pPr>
            <a:r>
              <a:rPr lang="en-US" sz="3671">
                <a:solidFill>
                  <a:srgbClr val="000000"/>
                </a:solidFill>
                <a:latin typeface="Chau Philomene"/>
                <a:ea typeface="Chau Philomene"/>
                <a:cs typeface="Chau Philomene"/>
                <a:sym typeface="Chau Philomene"/>
              </a:rPr>
              <a:t>Model Training: Built an SVM classifier for crop prediction.</a:t>
            </a:r>
          </a:p>
          <a:p>
            <a:pPr marL="792764" lvl="1" indent="-396382" algn="just">
              <a:lnSpc>
                <a:spcPts val="5140"/>
              </a:lnSpc>
              <a:buFont typeface="Arial"/>
              <a:buChar char="•"/>
            </a:pPr>
            <a:r>
              <a:rPr lang="en-US" sz="3671">
                <a:solidFill>
                  <a:srgbClr val="000000"/>
                </a:solidFill>
                <a:latin typeface="Chau Philomene"/>
                <a:ea typeface="Chau Philomene"/>
                <a:cs typeface="Chau Philomene"/>
                <a:sym typeface="Chau Philomene"/>
              </a:rPr>
              <a:t>Web App: Designed with Streamlit for easy input and real-time results.</a:t>
            </a:r>
          </a:p>
          <a:p>
            <a:pPr marL="792764" lvl="1" indent="-396382" algn="just">
              <a:lnSpc>
                <a:spcPts val="5140"/>
              </a:lnSpc>
              <a:buFont typeface="Arial"/>
              <a:buChar char="•"/>
            </a:pPr>
            <a:r>
              <a:rPr lang="en-US" sz="3671">
                <a:solidFill>
                  <a:srgbClr val="000000"/>
                </a:solidFill>
                <a:latin typeface="Chau Philomene"/>
                <a:ea typeface="Chau Philomene"/>
                <a:cs typeface="Chau Philomene"/>
                <a:sym typeface="Chau Philomene"/>
              </a:rPr>
              <a:t>Model Deployment: Used Pickle to save the trained model.</a:t>
            </a:r>
          </a:p>
          <a:p>
            <a:pPr algn="just">
              <a:lnSpc>
                <a:spcPts val="4993"/>
              </a:lnSpc>
              <a:spcBef>
                <a:spcPct val="0"/>
              </a:spcBef>
            </a:pPr>
            <a:endParaRPr lang="en-US" sz="3671">
              <a:solidFill>
                <a:srgbClr val="000000"/>
              </a:solidFill>
              <a:latin typeface="Chau Philomene"/>
              <a:ea typeface="Chau Philomene"/>
              <a:cs typeface="Chau Philomene"/>
              <a:sym typeface="Chau Philomene"/>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727247" y="6308532"/>
            <a:ext cx="3251221" cy="4705715"/>
          </a:xfrm>
          <a:custGeom>
            <a:avLst/>
            <a:gdLst/>
            <a:ahLst/>
            <a:cxnLst/>
            <a:rect l="l" t="t" r="r" b="b"/>
            <a:pathLst>
              <a:path w="3251221" h="4705715">
                <a:moveTo>
                  <a:pt x="0" y="0"/>
                </a:moveTo>
                <a:lnTo>
                  <a:pt x="3251221" y="0"/>
                </a:lnTo>
                <a:lnTo>
                  <a:pt x="3251221" y="4705715"/>
                </a:lnTo>
                <a:lnTo>
                  <a:pt x="0" y="47057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4306397" y="-727820"/>
            <a:ext cx="3253783" cy="4709423"/>
          </a:xfrm>
          <a:custGeom>
            <a:avLst/>
            <a:gdLst/>
            <a:ahLst/>
            <a:cxnLst/>
            <a:rect l="l" t="t" r="r" b="b"/>
            <a:pathLst>
              <a:path w="3253783" h="4709423">
                <a:moveTo>
                  <a:pt x="3253783" y="4709423"/>
                </a:moveTo>
                <a:lnTo>
                  <a:pt x="0" y="4709423"/>
                </a:lnTo>
                <a:lnTo>
                  <a:pt x="0" y="0"/>
                </a:lnTo>
                <a:lnTo>
                  <a:pt x="3253783" y="0"/>
                </a:lnTo>
                <a:lnTo>
                  <a:pt x="3253783" y="470942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1028700"/>
            <a:ext cx="2051685" cy="943775"/>
          </a:xfrm>
          <a:custGeom>
            <a:avLst/>
            <a:gdLst/>
            <a:ahLst/>
            <a:cxnLst/>
            <a:rect l="l" t="t" r="r" b="b"/>
            <a:pathLst>
              <a:path w="2051685" h="943775">
                <a:moveTo>
                  <a:pt x="0" y="0"/>
                </a:moveTo>
                <a:lnTo>
                  <a:pt x="2051685" y="0"/>
                </a:lnTo>
                <a:lnTo>
                  <a:pt x="2051685" y="943775"/>
                </a:lnTo>
                <a:lnTo>
                  <a:pt x="0" y="9437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5207722" y="8314574"/>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161636" y="7344290"/>
            <a:ext cx="3104345" cy="921830"/>
          </a:xfrm>
          <a:custGeom>
            <a:avLst/>
            <a:gdLst/>
            <a:ahLst/>
            <a:cxnLst/>
            <a:rect l="l" t="t" r="r" b="b"/>
            <a:pathLst>
              <a:path w="3104345" h="921830">
                <a:moveTo>
                  <a:pt x="0" y="0"/>
                </a:moveTo>
                <a:lnTo>
                  <a:pt x="3104346" y="0"/>
                </a:lnTo>
                <a:lnTo>
                  <a:pt x="3104346" y="921831"/>
                </a:lnTo>
                <a:lnTo>
                  <a:pt x="0" y="9218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343631" y="2022019"/>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2888271" y="3820132"/>
            <a:ext cx="11499652" cy="3851893"/>
          </a:xfrm>
          <a:prstGeom prst="rect">
            <a:avLst/>
          </a:prstGeom>
        </p:spPr>
        <p:txBody>
          <a:bodyPr lIns="0" tIns="0" rIns="0" bIns="0" rtlCol="0" anchor="t">
            <a:spAutoFit/>
          </a:bodyPr>
          <a:lstStyle/>
          <a:p>
            <a:pPr marL="788183" lvl="1" indent="-394091" algn="just">
              <a:lnSpc>
                <a:spcPts val="5110"/>
              </a:lnSpc>
              <a:spcBef>
                <a:spcPct val="0"/>
              </a:spcBef>
              <a:buFont typeface="Arial"/>
              <a:buChar char="•"/>
            </a:pPr>
            <a:r>
              <a:rPr lang="en-US" sz="3650">
                <a:solidFill>
                  <a:srgbClr val="000000"/>
                </a:solidFill>
                <a:latin typeface="Chau Philomene"/>
                <a:ea typeface="Chau Philomene"/>
                <a:cs typeface="Chau Philomene"/>
                <a:sym typeface="Chau Philomene"/>
              </a:rPr>
              <a:t>Programming Language: Python</a:t>
            </a:r>
          </a:p>
          <a:p>
            <a:pPr marL="788183" lvl="1" indent="-394091" algn="just">
              <a:lnSpc>
                <a:spcPts val="5110"/>
              </a:lnSpc>
              <a:spcBef>
                <a:spcPct val="0"/>
              </a:spcBef>
              <a:buFont typeface="Arial"/>
              <a:buChar char="•"/>
            </a:pPr>
            <a:r>
              <a:rPr lang="en-US" sz="3650">
                <a:solidFill>
                  <a:srgbClr val="000000"/>
                </a:solidFill>
                <a:latin typeface="Chau Philomene"/>
                <a:ea typeface="Chau Philomene"/>
                <a:cs typeface="Chau Philomene"/>
                <a:sym typeface="Chau Philomene"/>
              </a:rPr>
              <a:t>Libraries: Pandas, NumPy, Scikit-learn, Matplotlib, Seaborn</a:t>
            </a:r>
          </a:p>
          <a:p>
            <a:pPr marL="788183" lvl="1" indent="-394091" algn="just">
              <a:lnSpc>
                <a:spcPts val="5110"/>
              </a:lnSpc>
              <a:spcBef>
                <a:spcPct val="0"/>
              </a:spcBef>
              <a:buFont typeface="Arial"/>
              <a:buChar char="•"/>
            </a:pPr>
            <a:r>
              <a:rPr lang="en-US" sz="3650">
                <a:solidFill>
                  <a:srgbClr val="000000"/>
                </a:solidFill>
                <a:latin typeface="Chau Philomene"/>
                <a:ea typeface="Chau Philomene"/>
                <a:cs typeface="Chau Philomene"/>
                <a:sym typeface="Chau Philomene"/>
              </a:rPr>
              <a:t>Machine Learning Model: Support Vector Machine (SVM)</a:t>
            </a:r>
          </a:p>
          <a:p>
            <a:pPr marL="788183" lvl="1" indent="-394091" algn="just">
              <a:lnSpc>
                <a:spcPts val="5110"/>
              </a:lnSpc>
              <a:spcBef>
                <a:spcPct val="0"/>
              </a:spcBef>
              <a:buFont typeface="Arial"/>
              <a:buChar char="•"/>
            </a:pPr>
            <a:r>
              <a:rPr lang="en-US" sz="3650">
                <a:solidFill>
                  <a:srgbClr val="000000"/>
                </a:solidFill>
                <a:latin typeface="Chau Philomene"/>
                <a:ea typeface="Chau Philomene"/>
                <a:cs typeface="Chau Philomene"/>
                <a:sym typeface="Chau Philomene"/>
              </a:rPr>
              <a:t>Web Framework: Streamlit</a:t>
            </a:r>
          </a:p>
          <a:p>
            <a:pPr marL="788183" lvl="1" indent="-394091" algn="just">
              <a:lnSpc>
                <a:spcPts val="5110"/>
              </a:lnSpc>
              <a:spcBef>
                <a:spcPct val="0"/>
              </a:spcBef>
              <a:buFont typeface="Arial"/>
              <a:buChar char="•"/>
            </a:pPr>
            <a:r>
              <a:rPr lang="en-US" sz="3650">
                <a:solidFill>
                  <a:srgbClr val="000000"/>
                </a:solidFill>
                <a:latin typeface="Chau Philomene"/>
                <a:ea typeface="Chau Philomene"/>
                <a:cs typeface="Chau Philomene"/>
                <a:sym typeface="Chau Philomene"/>
              </a:rPr>
              <a:t>Model Deployment: Pickle (for saving the model and scaler)</a:t>
            </a:r>
          </a:p>
          <a:p>
            <a:pPr algn="just">
              <a:lnSpc>
                <a:spcPts val="4970"/>
              </a:lnSpc>
              <a:spcBef>
                <a:spcPct val="0"/>
              </a:spcBef>
            </a:pPr>
            <a:endParaRPr lang="en-US" sz="3650">
              <a:solidFill>
                <a:srgbClr val="000000"/>
              </a:solidFill>
              <a:latin typeface="Chau Philomene"/>
              <a:ea typeface="Chau Philomene"/>
              <a:cs typeface="Chau Philomene"/>
              <a:sym typeface="Chau Philomene"/>
            </a:endParaRPr>
          </a:p>
        </p:txBody>
      </p:sp>
      <p:sp>
        <p:nvSpPr>
          <p:cNvPr id="10" name="TextBox 10"/>
          <p:cNvSpPr txBox="1"/>
          <p:nvPr/>
        </p:nvSpPr>
        <p:spPr>
          <a:xfrm>
            <a:off x="6750415" y="1587861"/>
            <a:ext cx="3536585" cy="909095"/>
          </a:xfrm>
          <a:prstGeom prst="rect">
            <a:avLst/>
          </a:prstGeom>
        </p:spPr>
        <p:txBody>
          <a:bodyPr wrap="square" lIns="0" tIns="0" rIns="0" bIns="0" rtlCol="0" anchor="t">
            <a:spAutoFit/>
          </a:bodyPr>
          <a:lstStyle/>
          <a:p>
            <a:pPr algn="ctr">
              <a:lnSpc>
                <a:spcPts val="7350"/>
              </a:lnSpc>
              <a:spcBef>
                <a:spcPct val="0"/>
              </a:spcBef>
            </a:pPr>
            <a:r>
              <a:rPr lang="en-US" sz="5250" dirty="0">
                <a:solidFill>
                  <a:srgbClr val="000000"/>
                </a:solidFill>
                <a:latin typeface="Chau Philomene"/>
                <a:ea typeface="Chau Philomene"/>
                <a:cs typeface="Chau Philomene"/>
                <a:sym typeface="Chau Philomene"/>
              </a:rPr>
              <a:t>TECH STACK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476060" y="7682675"/>
            <a:ext cx="2128266" cy="3080385"/>
          </a:xfrm>
          <a:custGeom>
            <a:avLst/>
            <a:gdLst/>
            <a:ahLst/>
            <a:cxnLst/>
            <a:rect l="l" t="t" r="r" b="b"/>
            <a:pathLst>
              <a:path w="2128266" h="3080385">
                <a:moveTo>
                  <a:pt x="0" y="0"/>
                </a:moveTo>
                <a:lnTo>
                  <a:pt x="2128265" y="0"/>
                </a:lnTo>
                <a:lnTo>
                  <a:pt x="2128265" y="3080385"/>
                </a:lnTo>
                <a:lnTo>
                  <a:pt x="0" y="308038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5205207" y="-563521"/>
            <a:ext cx="2519272" cy="3646314"/>
          </a:xfrm>
          <a:custGeom>
            <a:avLst/>
            <a:gdLst/>
            <a:ahLst/>
            <a:cxnLst/>
            <a:rect l="l" t="t" r="r" b="b"/>
            <a:pathLst>
              <a:path w="2519272" h="3646314">
                <a:moveTo>
                  <a:pt x="2519272" y="3646314"/>
                </a:moveTo>
                <a:lnTo>
                  <a:pt x="0" y="3646314"/>
                </a:lnTo>
                <a:lnTo>
                  <a:pt x="0" y="0"/>
                </a:lnTo>
                <a:lnTo>
                  <a:pt x="2519272" y="0"/>
                </a:lnTo>
                <a:lnTo>
                  <a:pt x="2519272" y="3646314"/>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70548" y="1132174"/>
            <a:ext cx="2051685" cy="943775"/>
          </a:xfrm>
          <a:custGeom>
            <a:avLst/>
            <a:gdLst/>
            <a:ahLst/>
            <a:cxnLst/>
            <a:rect l="l" t="t" r="r" b="b"/>
            <a:pathLst>
              <a:path w="2051685" h="943775">
                <a:moveTo>
                  <a:pt x="0" y="0"/>
                </a:moveTo>
                <a:lnTo>
                  <a:pt x="2051685" y="0"/>
                </a:lnTo>
                <a:lnTo>
                  <a:pt x="2051685" y="943775"/>
                </a:lnTo>
                <a:lnTo>
                  <a:pt x="0" y="9437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5374908" y="8568010"/>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472895" y="7697819"/>
            <a:ext cx="3104345" cy="921830"/>
          </a:xfrm>
          <a:custGeom>
            <a:avLst/>
            <a:gdLst/>
            <a:ahLst/>
            <a:cxnLst/>
            <a:rect l="l" t="t" r="r" b="b"/>
            <a:pathLst>
              <a:path w="3104345" h="921830">
                <a:moveTo>
                  <a:pt x="0" y="0"/>
                </a:moveTo>
                <a:lnTo>
                  <a:pt x="3104345" y="0"/>
                </a:lnTo>
                <a:lnTo>
                  <a:pt x="3104345" y="921830"/>
                </a:lnTo>
                <a:lnTo>
                  <a:pt x="0" y="92183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873438" y="1614774"/>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2722233" y="3562322"/>
            <a:ext cx="12935823" cy="4377038"/>
          </a:xfrm>
          <a:prstGeom prst="rect">
            <a:avLst/>
          </a:prstGeom>
        </p:spPr>
        <p:txBody>
          <a:bodyPr lIns="0" tIns="0" rIns="0" bIns="0" rtlCol="0" anchor="t">
            <a:spAutoFit/>
          </a:bodyPr>
          <a:lstStyle/>
          <a:p>
            <a:pPr marL="766593" lvl="1" indent="-383297" algn="just">
              <a:lnSpc>
                <a:spcPts val="4970"/>
              </a:lnSpc>
              <a:buFont typeface="Arial"/>
              <a:buChar char="•"/>
            </a:pPr>
            <a:r>
              <a:rPr lang="en-US" sz="3550">
                <a:solidFill>
                  <a:srgbClr val="000000"/>
                </a:solidFill>
                <a:latin typeface="Chau Philomene"/>
                <a:ea typeface="Chau Philomene"/>
                <a:cs typeface="Chau Philomene"/>
                <a:sym typeface="Chau Philomene"/>
              </a:rPr>
              <a:t>Step 1: Collect soil and weather parameters (N, P, K, pH,       temperature, humidity, rainfall).</a:t>
            </a:r>
          </a:p>
          <a:p>
            <a:pPr marL="766593" lvl="1" indent="-383297" algn="just">
              <a:lnSpc>
                <a:spcPts val="4970"/>
              </a:lnSpc>
              <a:buFont typeface="Arial"/>
              <a:buChar char="•"/>
            </a:pPr>
            <a:r>
              <a:rPr lang="en-US" sz="3550">
                <a:solidFill>
                  <a:srgbClr val="000000"/>
                </a:solidFill>
                <a:latin typeface="Chau Philomene"/>
                <a:ea typeface="Chau Philomene"/>
                <a:cs typeface="Chau Philomene"/>
                <a:sym typeface="Chau Philomene"/>
              </a:rPr>
              <a:t>Step 2: Preprocess and normalize the input data.</a:t>
            </a:r>
          </a:p>
          <a:p>
            <a:pPr marL="766593" lvl="1" indent="-383297" algn="just">
              <a:lnSpc>
                <a:spcPts val="4970"/>
              </a:lnSpc>
              <a:buFont typeface="Arial"/>
              <a:buChar char="•"/>
            </a:pPr>
            <a:r>
              <a:rPr lang="en-US" sz="3550">
                <a:solidFill>
                  <a:srgbClr val="000000"/>
                </a:solidFill>
                <a:latin typeface="Chau Philomene"/>
                <a:ea typeface="Chau Philomene"/>
                <a:cs typeface="Chau Philomene"/>
                <a:sym typeface="Chau Philomene"/>
              </a:rPr>
              <a:t>Step 3: Predict suitable crops using the trained SVM model.</a:t>
            </a:r>
          </a:p>
          <a:p>
            <a:pPr marL="766593" lvl="1" indent="-383297" algn="just">
              <a:lnSpc>
                <a:spcPts val="4970"/>
              </a:lnSpc>
              <a:buFont typeface="Arial"/>
              <a:buChar char="•"/>
            </a:pPr>
            <a:r>
              <a:rPr lang="en-US" sz="3550">
                <a:solidFill>
                  <a:srgbClr val="000000"/>
                </a:solidFill>
                <a:latin typeface="Chau Philomene"/>
                <a:ea typeface="Chau Philomene"/>
                <a:cs typeface="Chau Philomene"/>
                <a:sym typeface="Chau Philomene"/>
              </a:rPr>
              <a:t>Step 4: Provide fertilizer and water recommendations based on predicted crops.</a:t>
            </a:r>
          </a:p>
          <a:p>
            <a:pPr marL="766593" lvl="1" indent="-383297" algn="just">
              <a:lnSpc>
                <a:spcPts val="4970"/>
              </a:lnSpc>
              <a:buFont typeface="Arial"/>
              <a:buChar char="•"/>
            </a:pPr>
            <a:r>
              <a:rPr lang="en-US" sz="3550">
                <a:solidFill>
                  <a:srgbClr val="000000"/>
                </a:solidFill>
                <a:latin typeface="Chau Philomene"/>
                <a:ea typeface="Chau Philomene"/>
                <a:cs typeface="Chau Philomene"/>
                <a:sym typeface="Chau Philomene"/>
              </a:rPr>
              <a:t>Step 5: Display results through a user-friendly Streamlit interface.</a:t>
            </a:r>
          </a:p>
        </p:txBody>
      </p:sp>
      <p:sp>
        <p:nvSpPr>
          <p:cNvPr id="10" name="TextBox 10"/>
          <p:cNvSpPr txBox="1"/>
          <p:nvPr/>
        </p:nvSpPr>
        <p:spPr>
          <a:xfrm>
            <a:off x="7496719" y="1108770"/>
            <a:ext cx="3386852" cy="895334"/>
          </a:xfrm>
          <a:prstGeom prst="rect">
            <a:avLst/>
          </a:prstGeom>
        </p:spPr>
        <p:txBody>
          <a:bodyPr lIns="0" tIns="0" rIns="0" bIns="0" rtlCol="0" anchor="t">
            <a:spAutoFit/>
          </a:bodyPr>
          <a:lstStyle/>
          <a:p>
            <a:pPr algn="ctr">
              <a:lnSpc>
                <a:spcPts val="7350"/>
              </a:lnSpc>
              <a:spcBef>
                <a:spcPct val="0"/>
              </a:spcBef>
            </a:pPr>
            <a:r>
              <a:rPr lang="en-US" sz="5250">
                <a:solidFill>
                  <a:srgbClr val="000000"/>
                </a:solidFill>
                <a:latin typeface="Chau Philomene"/>
                <a:ea typeface="Chau Philomene"/>
                <a:cs typeface="Chau Philomene"/>
                <a:sym typeface="Chau Philomene"/>
              </a:rPr>
              <a:t>WORKFLOW</a:t>
            </a: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804756" y="5884511"/>
            <a:ext cx="3597733" cy="5207245"/>
          </a:xfrm>
          <a:custGeom>
            <a:avLst/>
            <a:gdLst/>
            <a:ahLst/>
            <a:cxnLst/>
            <a:rect l="l" t="t" r="r" b="b"/>
            <a:pathLst>
              <a:path w="3597733" h="5207245">
                <a:moveTo>
                  <a:pt x="0" y="0"/>
                </a:moveTo>
                <a:lnTo>
                  <a:pt x="3597733" y="0"/>
                </a:lnTo>
                <a:lnTo>
                  <a:pt x="3597733" y="5207245"/>
                </a:lnTo>
                <a:lnTo>
                  <a:pt x="0" y="5207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3884526" y="-804936"/>
            <a:ext cx="3598538" cy="5208410"/>
          </a:xfrm>
          <a:custGeom>
            <a:avLst/>
            <a:gdLst/>
            <a:ahLst/>
            <a:cxnLst/>
            <a:rect l="l" t="t" r="r" b="b"/>
            <a:pathLst>
              <a:path w="3598538" h="5208410">
                <a:moveTo>
                  <a:pt x="3598538" y="5208410"/>
                </a:moveTo>
                <a:lnTo>
                  <a:pt x="0" y="5208410"/>
                </a:lnTo>
                <a:lnTo>
                  <a:pt x="0" y="0"/>
                </a:lnTo>
                <a:lnTo>
                  <a:pt x="3598538" y="0"/>
                </a:lnTo>
                <a:lnTo>
                  <a:pt x="3598538" y="520841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028700"/>
            <a:ext cx="2618309" cy="1204422"/>
          </a:xfrm>
          <a:custGeom>
            <a:avLst/>
            <a:gdLst/>
            <a:ahLst/>
            <a:cxnLst/>
            <a:rect l="l" t="t" r="r" b="b"/>
            <a:pathLst>
              <a:path w="2618309" h="1204422">
                <a:moveTo>
                  <a:pt x="0" y="0"/>
                </a:moveTo>
                <a:lnTo>
                  <a:pt x="2618309" y="0"/>
                </a:lnTo>
                <a:lnTo>
                  <a:pt x="2618309" y="1204422"/>
                </a:lnTo>
                <a:lnTo>
                  <a:pt x="0" y="1204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640991" y="8053878"/>
            <a:ext cx="2618309" cy="1204422"/>
          </a:xfrm>
          <a:custGeom>
            <a:avLst/>
            <a:gdLst/>
            <a:ahLst/>
            <a:cxnLst/>
            <a:rect l="l" t="t" r="r" b="b"/>
            <a:pathLst>
              <a:path w="2618309" h="1204422">
                <a:moveTo>
                  <a:pt x="2618309" y="0"/>
                </a:moveTo>
                <a:lnTo>
                  <a:pt x="0" y="0"/>
                </a:lnTo>
                <a:lnTo>
                  <a:pt x="0" y="1204422"/>
                </a:lnTo>
                <a:lnTo>
                  <a:pt x="2618309" y="1204422"/>
                </a:lnTo>
                <a:lnTo>
                  <a:pt x="2618309"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178863" y="7030660"/>
            <a:ext cx="3435203" cy="1020078"/>
          </a:xfrm>
          <a:custGeom>
            <a:avLst/>
            <a:gdLst/>
            <a:ahLst/>
            <a:cxnLst/>
            <a:rect l="l" t="t" r="r" b="b"/>
            <a:pathLst>
              <a:path w="3435203" h="1020078">
                <a:moveTo>
                  <a:pt x="0" y="0"/>
                </a:moveTo>
                <a:lnTo>
                  <a:pt x="3435203" y="0"/>
                </a:lnTo>
                <a:lnTo>
                  <a:pt x="3435203" y="1020077"/>
                </a:lnTo>
                <a:lnTo>
                  <a:pt x="0" y="10200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a:off x="15031660" y="2236263"/>
            <a:ext cx="3435203" cy="1020078"/>
          </a:xfrm>
          <a:custGeom>
            <a:avLst/>
            <a:gdLst/>
            <a:ahLst/>
            <a:cxnLst/>
            <a:rect l="l" t="t" r="r" b="b"/>
            <a:pathLst>
              <a:path w="3435203" h="1020078">
                <a:moveTo>
                  <a:pt x="0" y="0"/>
                </a:moveTo>
                <a:lnTo>
                  <a:pt x="3435203" y="0"/>
                </a:lnTo>
                <a:lnTo>
                  <a:pt x="3435203" y="1020077"/>
                </a:lnTo>
                <a:lnTo>
                  <a:pt x="0" y="10200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337855" y="4899049"/>
            <a:ext cx="15950145" cy="1278873"/>
          </a:xfrm>
          <a:prstGeom prst="rect">
            <a:avLst/>
          </a:prstGeom>
        </p:spPr>
        <p:txBody>
          <a:bodyPr lIns="0" tIns="0" rIns="0" bIns="0" rtlCol="0" anchor="t">
            <a:spAutoFit/>
          </a:bodyPr>
          <a:lstStyle/>
          <a:p>
            <a:pPr marL="788183" lvl="1" indent="-394091" algn="just">
              <a:lnSpc>
                <a:spcPts val="5110"/>
              </a:lnSpc>
              <a:buFont typeface="Arial"/>
              <a:buChar char="•"/>
            </a:pPr>
            <a:r>
              <a:rPr lang="en-US" sz="3650" u="sng">
                <a:solidFill>
                  <a:srgbClr val="000000"/>
                </a:solidFill>
                <a:latin typeface="Chau Philomene"/>
                <a:ea typeface="Chau Philomene"/>
                <a:cs typeface="Chau Philomene"/>
                <a:sym typeface="Chau Philomene"/>
              </a:rPr>
              <a:t>https://drive.google.com/file/d/12CljWGfsPmIGg4pevr7n1b-dLlBvj9Xv/view?usp=sharing</a:t>
            </a:r>
          </a:p>
        </p:txBody>
      </p:sp>
      <p:sp>
        <p:nvSpPr>
          <p:cNvPr id="9" name="TextBox 9"/>
          <p:cNvSpPr txBox="1"/>
          <p:nvPr/>
        </p:nvSpPr>
        <p:spPr>
          <a:xfrm>
            <a:off x="7802354" y="2447549"/>
            <a:ext cx="1951245" cy="1020023"/>
          </a:xfrm>
          <a:prstGeom prst="rect">
            <a:avLst/>
          </a:prstGeom>
        </p:spPr>
        <p:txBody>
          <a:bodyPr wrap="square" lIns="0" tIns="0" rIns="0" bIns="0" rtlCol="0" anchor="t">
            <a:spAutoFit/>
          </a:bodyPr>
          <a:lstStyle/>
          <a:p>
            <a:pPr algn="ctr">
              <a:lnSpc>
                <a:spcPts val="8257"/>
              </a:lnSpc>
              <a:spcBef>
                <a:spcPct val="0"/>
              </a:spcBef>
            </a:pPr>
            <a:r>
              <a:rPr lang="en-US" sz="5897" dirty="0">
                <a:solidFill>
                  <a:srgbClr val="000000"/>
                </a:solidFill>
                <a:latin typeface="Chau Philomene"/>
                <a:ea typeface="Chau Philomene"/>
                <a:cs typeface="Chau Philomene"/>
                <a:sym typeface="Chau Philomene"/>
              </a:rPr>
              <a:t>DEMO</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rot="-5400000">
            <a:off x="727247" y="6308532"/>
            <a:ext cx="3251221" cy="4705715"/>
          </a:xfrm>
          <a:custGeom>
            <a:avLst/>
            <a:gdLst/>
            <a:ahLst/>
            <a:cxnLst/>
            <a:rect l="l" t="t" r="r" b="b"/>
            <a:pathLst>
              <a:path w="3251221" h="4705715">
                <a:moveTo>
                  <a:pt x="0" y="0"/>
                </a:moveTo>
                <a:lnTo>
                  <a:pt x="3251221" y="0"/>
                </a:lnTo>
                <a:lnTo>
                  <a:pt x="3251221" y="4705715"/>
                </a:lnTo>
                <a:lnTo>
                  <a:pt x="0" y="470571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rot="-5400000" flipH="1" flipV="1">
            <a:off x="14306397" y="-727820"/>
            <a:ext cx="3253783" cy="4709423"/>
          </a:xfrm>
          <a:custGeom>
            <a:avLst/>
            <a:gdLst/>
            <a:ahLst/>
            <a:cxnLst/>
            <a:rect l="l" t="t" r="r" b="b"/>
            <a:pathLst>
              <a:path w="3253783" h="4709423">
                <a:moveTo>
                  <a:pt x="3253783" y="4709423"/>
                </a:moveTo>
                <a:lnTo>
                  <a:pt x="0" y="4709423"/>
                </a:lnTo>
                <a:lnTo>
                  <a:pt x="0" y="0"/>
                </a:lnTo>
                <a:lnTo>
                  <a:pt x="3253783" y="0"/>
                </a:lnTo>
                <a:lnTo>
                  <a:pt x="3253783" y="4709423"/>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028700" y="1028700"/>
            <a:ext cx="2051685" cy="943775"/>
          </a:xfrm>
          <a:custGeom>
            <a:avLst/>
            <a:gdLst/>
            <a:ahLst/>
            <a:cxnLst/>
            <a:rect l="l" t="t" r="r" b="b"/>
            <a:pathLst>
              <a:path w="2051685" h="943775">
                <a:moveTo>
                  <a:pt x="0" y="0"/>
                </a:moveTo>
                <a:lnTo>
                  <a:pt x="2051685" y="0"/>
                </a:lnTo>
                <a:lnTo>
                  <a:pt x="2051685" y="943775"/>
                </a:lnTo>
                <a:lnTo>
                  <a:pt x="0" y="9437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flipH="1">
            <a:off x="15207722" y="8314574"/>
            <a:ext cx="2051578" cy="943726"/>
          </a:xfrm>
          <a:custGeom>
            <a:avLst/>
            <a:gdLst/>
            <a:ahLst/>
            <a:cxnLst/>
            <a:rect l="l" t="t" r="r" b="b"/>
            <a:pathLst>
              <a:path w="2051578" h="943726">
                <a:moveTo>
                  <a:pt x="2051578" y="0"/>
                </a:moveTo>
                <a:lnTo>
                  <a:pt x="0" y="0"/>
                </a:lnTo>
                <a:lnTo>
                  <a:pt x="0" y="943726"/>
                </a:lnTo>
                <a:lnTo>
                  <a:pt x="2051578" y="943726"/>
                </a:lnTo>
                <a:lnTo>
                  <a:pt x="2051578"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rot="-5400000">
            <a:off x="-161636" y="7344290"/>
            <a:ext cx="3104345" cy="921830"/>
          </a:xfrm>
          <a:custGeom>
            <a:avLst/>
            <a:gdLst/>
            <a:ahLst/>
            <a:cxnLst/>
            <a:rect l="l" t="t" r="r" b="b"/>
            <a:pathLst>
              <a:path w="3104345" h="921830">
                <a:moveTo>
                  <a:pt x="0" y="0"/>
                </a:moveTo>
                <a:lnTo>
                  <a:pt x="3104346" y="0"/>
                </a:lnTo>
                <a:lnTo>
                  <a:pt x="3104346" y="921831"/>
                </a:lnTo>
                <a:lnTo>
                  <a:pt x="0" y="92183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8" name="Freeform 8"/>
          <p:cNvSpPr/>
          <p:nvPr/>
        </p:nvSpPr>
        <p:spPr>
          <a:xfrm rot="-5400000">
            <a:off x="15343631" y="2022019"/>
            <a:ext cx="3106096" cy="922350"/>
          </a:xfrm>
          <a:custGeom>
            <a:avLst/>
            <a:gdLst/>
            <a:ahLst/>
            <a:cxnLst/>
            <a:rect l="l" t="t" r="r" b="b"/>
            <a:pathLst>
              <a:path w="3106096" h="922350">
                <a:moveTo>
                  <a:pt x="0" y="0"/>
                </a:moveTo>
                <a:lnTo>
                  <a:pt x="3106096" y="0"/>
                </a:lnTo>
                <a:lnTo>
                  <a:pt x="3106096" y="922350"/>
                </a:lnTo>
                <a:lnTo>
                  <a:pt x="0" y="9223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5929261" y="1704019"/>
            <a:ext cx="6032123" cy="895334"/>
          </a:xfrm>
          <a:prstGeom prst="rect">
            <a:avLst/>
          </a:prstGeom>
        </p:spPr>
        <p:txBody>
          <a:bodyPr lIns="0" tIns="0" rIns="0" bIns="0" rtlCol="0" anchor="t">
            <a:spAutoFit/>
          </a:bodyPr>
          <a:lstStyle/>
          <a:p>
            <a:pPr algn="ctr">
              <a:lnSpc>
                <a:spcPts val="7350"/>
              </a:lnSpc>
            </a:pPr>
            <a:r>
              <a:rPr lang="en-US" sz="5250">
                <a:solidFill>
                  <a:srgbClr val="000000"/>
                </a:solidFill>
                <a:latin typeface="Chau Philomene"/>
                <a:ea typeface="Chau Philomene"/>
                <a:cs typeface="Chau Philomene"/>
                <a:sym typeface="Chau Philomene"/>
              </a:rPr>
              <a:t>GROUP TEAM(SC1)_10</a:t>
            </a:r>
          </a:p>
        </p:txBody>
      </p:sp>
      <p:sp>
        <p:nvSpPr>
          <p:cNvPr id="10" name="TextBox 10"/>
          <p:cNvSpPr txBox="1"/>
          <p:nvPr/>
        </p:nvSpPr>
        <p:spPr>
          <a:xfrm>
            <a:off x="2010972" y="3271076"/>
            <a:ext cx="13494386" cy="3187668"/>
          </a:xfrm>
          <a:prstGeom prst="rect">
            <a:avLst/>
          </a:prstGeom>
        </p:spPr>
        <p:txBody>
          <a:bodyPr wrap="square" lIns="0" tIns="0" rIns="0" bIns="0" rtlCol="0" anchor="t">
            <a:spAutoFit/>
          </a:bodyPr>
          <a:lstStyle/>
          <a:p>
            <a:pPr marL="797121" lvl="1" indent="-398561" algn="just">
              <a:lnSpc>
                <a:spcPts val="5168"/>
              </a:lnSpc>
              <a:spcBef>
                <a:spcPct val="0"/>
              </a:spcBef>
              <a:buAutoNum type="arabicPeriod"/>
            </a:pPr>
            <a:r>
              <a:rPr lang="en-US" sz="3692" u="sng" dirty="0">
                <a:solidFill>
                  <a:srgbClr val="000000"/>
                </a:solidFill>
                <a:latin typeface="Chau Philomene"/>
                <a:ea typeface="Chau Philomene"/>
                <a:cs typeface="Chau Philomene"/>
                <a:sym typeface="Chau Philomene"/>
              </a:rPr>
              <a:t>Milind Panda</a:t>
            </a:r>
            <a:r>
              <a:rPr lang="en-US" sz="3692" dirty="0">
                <a:solidFill>
                  <a:srgbClr val="000000"/>
                </a:solidFill>
                <a:latin typeface="Chau Philomene"/>
                <a:ea typeface="Chau Philomene"/>
                <a:cs typeface="Chau Philomene"/>
                <a:sym typeface="Chau Philomene"/>
              </a:rPr>
              <a:t> (Roll no.:24CSE097)(Reg no.:24UG010163)</a:t>
            </a:r>
          </a:p>
          <a:p>
            <a:pPr marL="778469" lvl="1" indent="-389235" algn="just">
              <a:lnSpc>
                <a:spcPts val="5047"/>
              </a:lnSpc>
              <a:spcBef>
                <a:spcPct val="0"/>
              </a:spcBef>
              <a:buAutoNum type="arabicPeriod"/>
            </a:pPr>
            <a:r>
              <a:rPr lang="en-US" sz="3605" u="sng" dirty="0">
                <a:solidFill>
                  <a:srgbClr val="000000"/>
                </a:solidFill>
                <a:latin typeface="Chau Philomene"/>
                <a:ea typeface="Chau Philomene"/>
                <a:cs typeface="Chau Philomene"/>
                <a:sym typeface="Chau Philomene"/>
              </a:rPr>
              <a:t>Anmol Chandrakar</a:t>
            </a:r>
            <a:r>
              <a:rPr lang="en-US" sz="3605" dirty="0">
                <a:solidFill>
                  <a:srgbClr val="000000"/>
                </a:solidFill>
                <a:latin typeface="Chau Philomene"/>
                <a:ea typeface="Chau Philomene"/>
                <a:cs typeface="Chau Philomene"/>
                <a:sym typeface="Chau Philomene"/>
              </a:rPr>
              <a:t> (Roll no.:24CSEAIML239_) (Reg no.:24UG010733)</a:t>
            </a:r>
          </a:p>
          <a:p>
            <a:pPr marL="778469" lvl="1" indent="-389235" algn="just">
              <a:lnSpc>
                <a:spcPts val="5047"/>
              </a:lnSpc>
              <a:spcBef>
                <a:spcPct val="0"/>
              </a:spcBef>
              <a:buAutoNum type="arabicPeriod"/>
            </a:pPr>
            <a:r>
              <a:rPr lang="en-US" sz="3605" u="sng" dirty="0">
                <a:solidFill>
                  <a:srgbClr val="000000"/>
                </a:solidFill>
                <a:latin typeface="Chau Philomene"/>
                <a:ea typeface="Chau Philomene"/>
                <a:cs typeface="Chau Philomene"/>
                <a:sym typeface="Chau Philomene"/>
              </a:rPr>
              <a:t>Blesson </a:t>
            </a:r>
            <a:r>
              <a:rPr lang="en-US" sz="3605" u="sng" dirty="0" err="1">
                <a:solidFill>
                  <a:srgbClr val="000000"/>
                </a:solidFill>
                <a:latin typeface="Chau Philomene"/>
                <a:ea typeface="Chau Philomene"/>
                <a:cs typeface="Chau Philomene"/>
                <a:sym typeface="Chau Philomene"/>
              </a:rPr>
              <a:t>Oddu</a:t>
            </a:r>
            <a:r>
              <a:rPr lang="en-US" sz="3605" dirty="0">
                <a:solidFill>
                  <a:srgbClr val="000000"/>
                </a:solidFill>
                <a:latin typeface="Chau Philomene"/>
                <a:ea typeface="Chau Philomene"/>
                <a:cs typeface="Chau Philomene"/>
                <a:sym typeface="Chau Philomene"/>
              </a:rPr>
              <a:t> (Roll no.:24CSEAIML234) (reg no.:24UG010729)</a:t>
            </a:r>
          </a:p>
          <a:p>
            <a:pPr marL="778469" lvl="1" indent="-389235" algn="just">
              <a:lnSpc>
                <a:spcPts val="5047"/>
              </a:lnSpc>
              <a:spcBef>
                <a:spcPct val="0"/>
              </a:spcBef>
              <a:buAutoNum type="arabicPeriod"/>
            </a:pPr>
            <a:r>
              <a:rPr lang="en-US" sz="3605" u="sng" dirty="0">
                <a:solidFill>
                  <a:srgbClr val="000000"/>
                </a:solidFill>
                <a:latin typeface="Chau Philomene"/>
                <a:ea typeface="Chau Philomene"/>
                <a:cs typeface="Chau Philomene"/>
                <a:sym typeface="Chau Philomene"/>
              </a:rPr>
              <a:t>Ankit Kumar Nayak</a:t>
            </a:r>
            <a:r>
              <a:rPr lang="en-US" sz="3605" dirty="0">
                <a:solidFill>
                  <a:srgbClr val="000000"/>
                </a:solidFill>
                <a:latin typeface="Chau Philomene"/>
                <a:ea typeface="Chau Philomene"/>
                <a:cs typeface="Chau Philomene"/>
                <a:sym typeface="Chau Philomene"/>
              </a:rPr>
              <a:t> (Roll no.:24CSEAIML233) (Reg no:24UG010728)</a:t>
            </a:r>
          </a:p>
          <a:p>
            <a:pPr algn="just">
              <a:lnSpc>
                <a:spcPts val="4767"/>
              </a:lnSpc>
              <a:spcBef>
                <a:spcPct val="0"/>
              </a:spcBef>
            </a:pPr>
            <a:endParaRPr lang="en-US" sz="3605" dirty="0">
              <a:solidFill>
                <a:srgbClr val="000000"/>
              </a:solidFill>
              <a:latin typeface="Chau Philomene"/>
              <a:ea typeface="Chau Philomene"/>
              <a:cs typeface="Chau Philomene"/>
              <a:sym typeface="Chau Philomene"/>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614304" y="6926394"/>
            <a:ext cx="2746301" cy="3974910"/>
          </a:xfrm>
          <a:custGeom>
            <a:avLst/>
            <a:gdLst/>
            <a:ahLst/>
            <a:cxnLst/>
            <a:rect l="l" t="t" r="r" b="b"/>
            <a:pathLst>
              <a:path w="2746301" h="3974910">
                <a:moveTo>
                  <a:pt x="0" y="0"/>
                </a:moveTo>
                <a:lnTo>
                  <a:pt x="2746302" y="0"/>
                </a:lnTo>
                <a:lnTo>
                  <a:pt x="2746302" y="3974910"/>
                </a:lnTo>
                <a:lnTo>
                  <a:pt x="0" y="397491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4927394" y="-614304"/>
            <a:ext cx="2746301" cy="3974910"/>
          </a:xfrm>
          <a:custGeom>
            <a:avLst/>
            <a:gdLst/>
            <a:ahLst/>
            <a:cxnLst/>
            <a:rect l="l" t="t" r="r" b="b"/>
            <a:pathLst>
              <a:path w="2746301" h="3974910">
                <a:moveTo>
                  <a:pt x="2746302" y="3974910"/>
                </a:moveTo>
                <a:lnTo>
                  <a:pt x="0" y="3974910"/>
                </a:lnTo>
                <a:lnTo>
                  <a:pt x="0" y="0"/>
                </a:lnTo>
                <a:lnTo>
                  <a:pt x="2746302" y="0"/>
                </a:lnTo>
                <a:lnTo>
                  <a:pt x="2746302" y="397491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028700"/>
            <a:ext cx="2618309" cy="1204422"/>
          </a:xfrm>
          <a:custGeom>
            <a:avLst/>
            <a:gdLst/>
            <a:ahLst/>
            <a:cxnLst/>
            <a:rect l="l" t="t" r="r" b="b"/>
            <a:pathLst>
              <a:path w="2618309" h="1204422">
                <a:moveTo>
                  <a:pt x="0" y="0"/>
                </a:moveTo>
                <a:lnTo>
                  <a:pt x="2618309" y="0"/>
                </a:lnTo>
                <a:lnTo>
                  <a:pt x="2618309" y="1204422"/>
                </a:lnTo>
                <a:lnTo>
                  <a:pt x="0" y="1204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640991" y="8053878"/>
            <a:ext cx="2618309" cy="1204422"/>
          </a:xfrm>
          <a:custGeom>
            <a:avLst/>
            <a:gdLst/>
            <a:ahLst/>
            <a:cxnLst/>
            <a:rect l="l" t="t" r="r" b="b"/>
            <a:pathLst>
              <a:path w="2618309" h="1204422">
                <a:moveTo>
                  <a:pt x="2618309" y="0"/>
                </a:moveTo>
                <a:lnTo>
                  <a:pt x="0" y="0"/>
                </a:lnTo>
                <a:lnTo>
                  <a:pt x="0" y="1204422"/>
                </a:lnTo>
                <a:lnTo>
                  <a:pt x="2618309" y="1204422"/>
                </a:lnTo>
                <a:lnTo>
                  <a:pt x="2618309"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688901" y="7543839"/>
            <a:ext cx="3435203" cy="1020078"/>
          </a:xfrm>
          <a:custGeom>
            <a:avLst/>
            <a:gdLst/>
            <a:ahLst/>
            <a:cxnLst/>
            <a:rect l="l" t="t" r="r" b="b"/>
            <a:pathLst>
              <a:path w="3435203" h="1020078">
                <a:moveTo>
                  <a:pt x="0" y="0"/>
                </a:moveTo>
                <a:lnTo>
                  <a:pt x="3435202" y="0"/>
                </a:lnTo>
                <a:lnTo>
                  <a:pt x="3435202" y="1020078"/>
                </a:lnTo>
                <a:lnTo>
                  <a:pt x="0" y="1020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a:off x="15296563" y="2081735"/>
            <a:ext cx="3435203" cy="1020078"/>
          </a:xfrm>
          <a:custGeom>
            <a:avLst/>
            <a:gdLst/>
            <a:ahLst/>
            <a:cxnLst/>
            <a:rect l="l" t="t" r="r" b="b"/>
            <a:pathLst>
              <a:path w="3435203" h="1020078">
                <a:moveTo>
                  <a:pt x="0" y="0"/>
                </a:moveTo>
                <a:lnTo>
                  <a:pt x="3435203" y="0"/>
                </a:lnTo>
                <a:lnTo>
                  <a:pt x="3435203" y="1020078"/>
                </a:lnTo>
                <a:lnTo>
                  <a:pt x="0" y="1020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2110483" y="3963844"/>
            <a:ext cx="14067033" cy="3221973"/>
          </a:xfrm>
          <a:prstGeom prst="rect">
            <a:avLst/>
          </a:prstGeom>
        </p:spPr>
        <p:txBody>
          <a:bodyPr lIns="0" tIns="0" rIns="0" bIns="0" rtlCol="0" anchor="t">
            <a:spAutoFit/>
          </a:bodyPr>
          <a:lstStyle/>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Our Crop &amp; Fertilizer Recommendation System provides data-driven suggestions for crops, fertilizers, and water requirements.</a:t>
            </a: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It helps farmers make smarter decisions, leading to better yields, optimized resources, and reduced costs.</a:t>
            </a: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The model is simple, fast, and easy to use through a web interface.</a:t>
            </a:r>
          </a:p>
        </p:txBody>
      </p:sp>
      <p:sp>
        <p:nvSpPr>
          <p:cNvPr id="9" name="TextBox 9"/>
          <p:cNvSpPr txBox="1"/>
          <p:nvPr/>
        </p:nvSpPr>
        <p:spPr>
          <a:xfrm>
            <a:off x="7276920" y="1535661"/>
            <a:ext cx="3695880" cy="909095"/>
          </a:xfrm>
          <a:prstGeom prst="rect">
            <a:avLst/>
          </a:prstGeom>
        </p:spPr>
        <p:txBody>
          <a:bodyPr wrap="square" lIns="0" tIns="0" rIns="0" bIns="0" rtlCol="0" anchor="t">
            <a:spAutoFit/>
          </a:bodyPr>
          <a:lstStyle/>
          <a:p>
            <a:pPr algn="ctr">
              <a:lnSpc>
                <a:spcPts val="7350"/>
              </a:lnSpc>
              <a:spcBef>
                <a:spcPct val="0"/>
              </a:spcBef>
            </a:pPr>
            <a:r>
              <a:rPr lang="en-US" sz="5250" dirty="0">
                <a:solidFill>
                  <a:srgbClr val="000000"/>
                </a:solidFill>
                <a:latin typeface="Chau Philomene"/>
                <a:ea typeface="Chau Philomene"/>
                <a:cs typeface="Chau Philomene"/>
                <a:sym typeface="Chau Philomene"/>
              </a:rPr>
              <a:t>CONCLUSION</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424438" y="7965076"/>
            <a:ext cx="1897486" cy="2746361"/>
          </a:xfrm>
          <a:custGeom>
            <a:avLst/>
            <a:gdLst/>
            <a:ahLst/>
            <a:cxnLst/>
            <a:rect l="l" t="t" r="r" b="b"/>
            <a:pathLst>
              <a:path w="1897486" h="2746361">
                <a:moveTo>
                  <a:pt x="0" y="0"/>
                </a:moveTo>
                <a:lnTo>
                  <a:pt x="1897486" y="0"/>
                </a:lnTo>
                <a:lnTo>
                  <a:pt x="1897486" y="2746362"/>
                </a:lnTo>
                <a:lnTo>
                  <a:pt x="0" y="274636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3884526" y="-804936"/>
            <a:ext cx="3598538" cy="5208410"/>
          </a:xfrm>
          <a:custGeom>
            <a:avLst/>
            <a:gdLst/>
            <a:ahLst/>
            <a:cxnLst/>
            <a:rect l="l" t="t" r="r" b="b"/>
            <a:pathLst>
              <a:path w="3598538" h="5208410">
                <a:moveTo>
                  <a:pt x="3598538" y="5208410"/>
                </a:moveTo>
                <a:lnTo>
                  <a:pt x="0" y="5208410"/>
                </a:lnTo>
                <a:lnTo>
                  <a:pt x="0" y="0"/>
                </a:lnTo>
                <a:lnTo>
                  <a:pt x="3598538" y="0"/>
                </a:lnTo>
                <a:lnTo>
                  <a:pt x="3598538" y="520841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028700"/>
            <a:ext cx="2618309" cy="1204422"/>
          </a:xfrm>
          <a:custGeom>
            <a:avLst/>
            <a:gdLst/>
            <a:ahLst/>
            <a:cxnLst/>
            <a:rect l="l" t="t" r="r" b="b"/>
            <a:pathLst>
              <a:path w="2618309" h="1204422">
                <a:moveTo>
                  <a:pt x="0" y="0"/>
                </a:moveTo>
                <a:lnTo>
                  <a:pt x="2618309" y="0"/>
                </a:lnTo>
                <a:lnTo>
                  <a:pt x="2618309" y="1204422"/>
                </a:lnTo>
                <a:lnTo>
                  <a:pt x="0" y="1204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883819" y="8385007"/>
            <a:ext cx="2618309" cy="1204422"/>
          </a:xfrm>
          <a:custGeom>
            <a:avLst/>
            <a:gdLst/>
            <a:ahLst/>
            <a:cxnLst/>
            <a:rect l="l" t="t" r="r" b="b"/>
            <a:pathLst>
              <a:path w="2618309" h="1204422">
                <a:moveTo>
                  <a:pt x="2618309" y="0"/>
                </a:moveTo>
                <a:lnTo>
                  <a:pt x="0" y="0"/>
                </a:lnTo>
                <a:lnTo>
                  <a:pt x="0" y="1204422"/>
                </a:lnTo>
                <a:lnTo>
                  <a:pt x="2618309" y="1204422"/>
                </a:lnTo>
                <a:lnTo>
                  <a:pt x="2618309"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412830" y="7361789"/>
            <a:ext cx="3435203" cy="1020078"/>
          </a:xfrm>
          <a:custGeom>
            <a:avLst/>
            <a:gdLst/>
            <a:ahLst/>
            <a:cxnLst/>
            <a:rect l="l" t="t" r="r" b="b"/>
            <a:pathLst>
              <a:path w="3435203" h="1020078">
                <a:moveTo>
                  <a:pt x="0" y="0"/>
                </a:moveTo>
                <a:lnTo>
                  <a:pt x="3435203" y="0"/>
                </a:lnTo>
                <a:lnTo>
                  <a:pt x="3435203" y="1020078"/>
                </a:lnTo>
                <a:lnTo>
                  <a:pt x="0" y="10200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a:off x="15641860" y="1738270"/>
            <a:ext cx="2868685" cy="851851"/>
          </a:xfrm>
          <a:custGeom>
            <a:avLst/>
            <a:gdLst/>
            <a:ahLst/>
            <a:cxnLst/>
            <a:rect l="l" t="t" r="r" b="b"/>
            <a:pathLst>
              <a:path w="2868685" h="851851">
                <a:moveTo>
                  <a:pt x="0" y="0"/>
                </a:moveTo>
                <a:lnTo>
                  <a:pt x="2868685" y="0"/>
                </a:lnTo>
                <a:lnTo>
                  <a:pt x="2868685" y="851851"/>
                </a:lnTo>
                <a:lnTo>
                  <a:pt x="0" y="85185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1814810" y="3054342"/>
            <a:ext cx="15687318" cy="3470893"/>
          </a:xfrm>
          <a:prstGeom prst="rect">
            <a:avLst/>
          </a:prstGeom>
        </p:spPr>
        <p:txBody>
          <a:bodyPr lIns="0" tIns="0" rIns="0" bIns="0" rtlCol="0" anchor="t">
            <a:spAutoFit/>
          </a:bodyPr>
          <a:lstStyle/>
          <a:p>
            <a:pPr algn="ctr">
              <a:lnSpc>
                <a:spcPts val="7070"/>
              </a:lnSpc>
              <a:spcBef>
                <a:spcPct val="0"/>
              </a:spcBef>
            </a:pPr>
            <a:endParaRP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Integrating real-time weather data via APIs for dynamic recommendations.</a:t>
            </a: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Adding pest and disease prediction modules for complete crop advisory.</a:t>
            </a: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Expanding the dataset to include regional crops and soil types for better accuracy.</a:t>
            </a:r>
          </a:p>
          <a:p>
            <a:pPr marL="788183" lvl="1" indent="-394091" algn="just">
              <a:lnSpc>
                <a:spcPts val="5110"/>
              </a:lnSpc>
              <a:buFont typeface="Arial"/>
              <a:buChar char="•"/>
            </a:pPr>
            <a:r>
              <a:rPr lang="en-US" sz="3650">
                <a:solidFill>
                  <a:srgbClr val="000000"/>
                </a:solidFill>
                <a:latin typeface="Chau Philomene"/>
                <a:ea typeface="Chau Philomene"/>
                <a:cs typeface="Chau Philomene"/>
                <a:sym typeface="Chau Philomene"/>
              </a:rPr>
              <a:t>Developing a mobile application for offline use in remote areas.</a:t>
            </a:r>
          </a:p>
        </p:txBody>
      </p:sp>
      <p:sp>
        <p:nvSpPr>
          <p:cNvPr id="9" name="TextBox 9"/>
          <p:cNvSpPr txBox="1"/>
          <p:nvPr/>
        </p:nvSpPr>
        <p:spPr>
          <a:xfrm>
            <a:off x="6407162" y="1535661"/>
            <a:ext cx="3912275" cy="895334"/>
          </a:xfrm>
          <a:prstGeom prst="rect">
            <a:avLst/>
          </a:prstGeom>
        </p:spPr>
        <p:txBody>
          <a:bodyPr lIns="0" tIns="0" rIns="0" bIns="0" rtlCol="0" anchor="t">
            <a:spAutoFit/>
          </a:bodyPr>
          <a:lstStyle/>
          <a:p>
            <a:pPr algn="ctr">
              <a:lnSpc>
                <a:spcPts val="7350"/>
              </a:lnSpc>
              <a:spcBef>
                <a:spcPct val="0"/>
              </a:spcBef>
            </a:pPr>
            <a:r>
              <a:rPr lang="en-US" sz="5250">
                <a:solidFill>
                  <a:srgbClr val="000000"/>
                </a:solidFill>
                <a:latin typeface="Chau Philomene"/>
                <a:ea typeface="Chau Philomene"/>
                <a:cs typeface="Chau Philomene"/>
                <a:sym typeface="Chau Philomene"/>
              </a:rPr>
              <a:t>FUTURE SCOPE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804756" y="5884511"/>
            <a:ext cx="3597733" cy="5207245"/>
          </a:xfrm>
          <a:custGeom>
            <a:avLst/>
            <a:gdLst/>
            <a:ahLst/>
            <a:cxnLst/>
            <a:rect l="l" t="t" r="r" b="b"/>
            <a:pathLst>
              <a:path w="3597733" h="5207245">
                <a:moveTo>
                  <a:pt x="0" y="0"/>
                </a:moveTo>
                <a:lnTo>
                  <a:pt x="3597733" y="0"/>
                </a:lnTo>
                <a:lnTo>
                  <a:pt x="3597733" y="5207245"/>
                </a:lnTo>
                <a:lnTo>
                  <a:pt x="0" y="520724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rot="-5400000" flipH="1" flipV="1">
            <a:off x="13884526" y="-804936"/>
            <a:ext cx="3598538" cy="5208410"/>
          </a:xfrm>
          <a:custGeom>
            <a:avLst/>
            <a:gdLst/>
            <a:ahLst/>
            <a:cxnLst/>
            <a:rect l="l" t="t" r="r" b="b"/>
            <a:pathLst>
              <a:path w="3598538" h="5208410">
                <a:moveTo>
                  <a:pt x="3598538" y="5208410"/>
                </a:moveTo>
                <a:lnTo>
                  <a:pt x="0" y="5208410"/>
                </a:lnTo>
                <a:lnTo>
                  <a:pt x="0" y="0"/>
                </a:lnTo>
                <a:lnTo>
                  <a:pt x="3598538" y="0"/>
                </a:lnTo>
                <a:lnTo>
                  <a:pt x="3598538" y="520841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028700" y="1028700"/>
            <a:ext cx="2618309" cy="1204422"/>
          </a:xfrm>
          <a:custGeom>
            <a:avLst/>
            <a:gdLst/>
            <a:ahLst/>
            <a:cxnLst/>
            <a:rect l="l" t="t" r="r" b="b"/>
            <a:pathLst>
              <a:path w="2618309" h="1204422">
                <a:moveTo>
                  <a:pt x="0" y="0"/>
                </a:moveTo>
                <a:lnTo>
                  <a:pt x="2618309" y="0"/>
                </a:lnTo>
                <a:lnTo>
                  <a:pt x="2618309" y="1204422"/>
                </a:lnTo>
                <a:lnTo>
                  <a:pt x="0" y="120442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640991" y="8053878"/>
            <a:ext cx="2618309" cy="1204422"/>
          </a:xfrm>
          <a:custGeom>
            <a:avLst/>
            <a:gdLst/>
            <a:ahLst/>
            <a:cxnLst/>
            <a:rect l="l" t="t" r="r" b="b"/>
            <a:pathLst>
              <a:path w="2618309" h="1204422">
                <a:moveTo>
                  <a:pt x="2618309" y="0"/>
                </a:moveTo>
                <a:lnTo>
                  <a:pt x="0" y="0"/>
                </a:lnTo>
                <a:lnTo>
                  <a:pt x="0" y="1204422"/>
                </a:lnTo>
                <a:lnTo>
                  <a:pt x="2618309" y="1204422"/>
                </a:lnTo>
                <a:lnTo>
                  <a:pt x="2618309"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rot="-5400000">
            <a:off x="-178863" y="7030660"/>
            <a:ext cx="3435203" cy="1020078"/>
          </a:xfrm>
          <a:custGeom>
            <a:avLst/>
            <a:gdLst/>
            <a:ahLst/>
            <a:cxnLst/>
            <a:rect l="l" t="t" r="r" b="b"/>
            <a:pathLst>
              <a:path w="3435203" h="1020078">
                <a:moveTo>
                  <a:pt x="0" y="0"/>
                </a:moveTo>
                <a:lnTo>
                  <a:pt x="3435203" y="0"/>
                </a:lnTo>
                <a:lnTo>
                  <a:pt x="3435203" y="1020077"/>
                </a:lnTo>
                <a:lnTo>
                  <a:pt x="0" y="10200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rot="-5400000">
            <a:off x="15031660" y="2236263"/>
            <a:ext cx="3435203" cy="1020078"/>
          </a:xfrm>
          <a:custGeom>
            <a:avLst/>
            <a:gdLst/>
            <a:ahLst/>
            <a:cxnLst/>
            <a:rect l="l" t="t" r="r" b="b"/>
            <a:pathLst>
              <a:path w="3435203" h="1020078">
                <a:moveTo>
                  <a:pt x="0" y="0"/>
                </a:moveTo>
                <a:lnTo>
                  <a:pt x="3435203" y="0"/>
                </a:lnTo>
                <a:lnTo>
                  <a:pt x="3435203" y="1020077"/>
                </a:lnTo>
                <a:lnTo>
                  <a:pt x="0" y="102007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3650196" y="3937952"/>
            <a:ext cx="10987608" cy="2172971"/>
          </a:xfrm>
          <a:prstGeom prst="rect">
            <a:avLst/>
          </a:prstGeom>
        </p:spPr>
        <p:txBody>
          <a:bodyPr lIns="0" tIns="0" rIns="0" bIns="0" rtlCol="0" anchor="t">
            <a:spAutoFit/>
          </a:bodyPr>
          <a:lstStyle/>
          <a:p>
            <a:pPr algn="ctr">
              <a:lnSpc>
                <a:spcPts val="17779"/>
              </a:lnSpc>
            </a:pPr>
            <a:r>
              <a:rPr lang="en-US" sz="12699">
                <a:solidFill>
                  <a:srgbClr val="000000"/>
                </a:solidFill>
                <a:latin typeface="Chau Philomene"/>
                <a:ea typeface="Chau Philomene"/>
                <a:cs typeface="Chau Philomene"/>
                <a:sym typeface="Chau Philomen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745</Words>
  <Application>Microsoft Office PowerPoint</Application>
  <PresentationFormat>Custom</PresentationFormat>
  <Paragraphs>74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Chau Philomene</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Mint Modern Group Project Presentation</dc:title>
  <dc:creator>Anmol Chandrakar</dc:creator>
  <cp:lastModifiedBy>anmol</cp:lastModifiedBy>
  <cp:revision>4</cp:revision>
  <dcterms:created xsi:type="dcterms:W3CDTF">2006-08-16T00:00:00Z</dcterms:created>
  <dcterms:modified xsi:type="dcterms:W3CDTF">2025-07-23T20:12:24Z</dcterms:modified>
  <dc:identifier>DAGuAoJd2NM</dc:identifier>
</cp:coreProperties>
</file>